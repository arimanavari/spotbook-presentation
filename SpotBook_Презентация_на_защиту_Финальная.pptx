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0f76a3ff124f98" /><Relationship Type="http://schemas.openxmlformats.org/officeDocument/2006/relationships/extended-properties" Target="/docProps/app.xml" Id="Re61de15450a34a69" /><Relationship Type="http://schemas.openxmlformats.org/officeDocument/2006/relationships/officeDocument" Target="/ppt/presentation.xml" Id="R82a3f11224df4e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f7294fd22c4853"/>
  </p:sldMasterIdLst>
  <p:notesMasterIdLst>
    <p:notesMasterId xmlns:r="http://schemas.openxmlformats.org/officeDocument/2006/relationships" r:id="R34af91bd1f7a4d67"/>
  </p:notesMasterIdLst>
  <p:sldIdLst>
    <p:sldId xmlns:r="http://schemas.openxmlformats.org/officeDocument/2006/relationships" id="256" r:id="R7ed909307f234b77"/>
    <p:sldId xmlns:r="http://schemas.openxmlformats.org/officeDocument/2006/relationships" id="257" r:id="R62be755d59f246dd"/>
    <p:sldId xmlns:r="http://schemas.openxmlformats.org/officeDocument/2006/relationships" id="258" r:id="R6f40081c98da473d"/>
    <p:sldId xmlns:r="http://schemas.openxmlformats.org/officeDocument/2006/relationships" id="259" r:id="R7f115d4007df4267"/>
    <p:sldId xmlns:r="http://schemas.openxmlformats.org/officeDocument/2006/relationships" id="260" r:id="Ra23f8180941249cd"/>
    <p:sldId xmlns:r="http://schemas.openxmlformats.org/officeDocument/2006/relationships" id="261" r:id="R624e93c792104a68"/>
    <p:sldId xmlns:r="http://schemas.openxmlformats.org/officeDocument/2006/relationships" id="262" r:id="R29a0ae88c41c44aa"/>
    <p:sldId xmlns:r="http://schemas.openxmlformats.org/officeDocument/2006/relationships" id="263" r:id="Rda6d7ef1c7204757"/>
    <p:sldId xmlns:r="http://schemas.openxmlformats.org/officeDocument/2006/relationships" id="264" r:id="R9dbd80bf97cb4d1a"/>
    <p:sldId xmlns:r="http://schemas.openxmlformats.org/officeDocument/2006/relationships" id="265" r:id="R9d050e7a5e4c49de"/>
    <p:sldId xmlns:r="http://schemas.openxmlformats.org/officeDocument/2006/relationships" id="266" r:id="R9e6a1e5bc1974dc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b90410bf71490f" /><Relationship Type="http://schemas.openxmlformats.org/officeDocument/2006/relationships/slideMaster" Target="/ppt/slideMasters/slideMaster1.xml" Id="Rfcf7294fd22c4853" /><Relationship Type="http://schemas.openxmlformats.org/officeDocument/2006/relationships/notesMaster" Target="/ppt/notesMasters/notesMaster1.xml" Id="R34af91bd1f7a4d67" /><Relationship Type="http://schemas.openxmlformats.org/officeDocument/2006/relationships/presProps" Target="/ppt/presProps.xml" Id="Re378040c36b547ed" /><Relationship Type="http://schemas.openxmlformats.org/officeDocument/2006/relationships/viewProps" Target="/ppt/viewProps.xml" Id="Rd99032a488e94667" /><Relationship Type="http://schemas.openxmlformats.org/officeDocument/2006/relationships/tableStyles" Target="/ppt/tableStyles.xml" Id="R24c1c346be264145" /><Relationship Type="http://schemas.openxmlformats.org/officeDocument/2006/relationships/slide" Target="/ppt/slides/slide1.xml" Id="R7ed909307f234b77" /><Relationship Type="http://schemas.openxmlformats.org/officeDocument/2006/relationships/slide" Target="/ppt/slides/slide2.xml" Id="R62be755d59f246dd" /><Relationship Type="http://schemas.openxmlformats.org/officeDocument/2006/relationships/slide" Target="/ppt/slides/slide3.xml" Id="R6f40081c98da473d" /><Relationship Type="http://schemas.openxmlformats.org/officeDocument/2006/relationships/slide" Target="/ppt/slides/slide4.xml" Id="R7f115d4007df4267" /><Relationship Type="http://schemas.openxmlformats.org/officeDocument/2006/relationships/slide" Target="/ppt/slides/slide5.xml" Id="Ra23f8180941249cd" /><Relationship Type="http://schemas.openxmlformats.org/officeDocument/2006/relationships/slide" Target="/ppt/slides/slide6.xml" Id="R624e93c792104a68" /><Relationship Type="http://schemas.openxmlformats.org/officeDocument/2006/relationships/slide" Target="/ppt/slides/slide7.xml" Id="R29a0ae88c41c44aa" /><Relationship Type="http://schemas.openxmlformats.org/officeDocument/2006/relationships/slide" Target="/ppt/slides/slide8.xml" Id="Rda6d7ef1c7204757" /><Relationship Type="http://schemas.openxmlformats.org/officeDocument/2006/relationships/slide" Target="/ppt/slides/slide9.xml" Id="R9dbd80bf97cb4d1a" /><Relationship Type="http://schemas.openxmlformats.org/officeDocument/2006/relationships/slide" Target="/ppt/slides/slide10.xml" Id="R9d050e7a5e4c49de" /><Relationship Type="http://schemas.openxmlformats.org/officeDocument/2006/relationships/slide" Target="/ppt/slides/slide11.xml" Id="R9e6a1e5bc1974d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56414d083349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04b0298921459b" /><Relationship Type="http://schemas.openxmlformats.org/officeDocument/2006/relationships/notesMaster" Target="/ppt/notesMasters/notesMaster1.xml" Id="R0191d273c98b4e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c615967e284854" /><Relationship Type="http://schemas.openxmlformats.org/officeDocument/2006/relationships/notesMaster" Target="/ppt/notesMasters/notesMaster1.xml" Id="Rff89b946a74947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9be0c2844141cf" /><Relationship Type="http://schemas.openxmlformats.org/officeDocument/2006/relationships/notesMaster" Target="/ppt/notesMasters/notesMaster1.xml" Id="Re0fa1cc318b34e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b50d8f317d4a4a" /><Relationship Type="http://schemas.openxmlformats.org/officeDocument/2006/relationships/notesMaster" Target="/ppt/notesMasters/notesMaster1.xml" Id="R54380df96a3742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b491ab2fad4248" /><Relationship Type="http://schemas.openxmlformats.org/officeDocument/2006/relationships/notesMaster" Target="/ppt/notesMasters/notesMaster1.xml" Id="R41aab783af6c47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72330ec80f4016" /><Relationship Type="http://schemas.openxmlformats.org/officeDocument/2006/relationships/notesMaster" Target="/ppt/notesMasters/notesMaster1.xml" Id="R6e833e7fdbd945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ce41f9ec8d48a0" /><Relationship Type="http://schemas.openxmlformats.org/officeDocument/2006/relationships/notesMaster" Target="/ppt/notesMasters/notesMaster1.xml" Id="R902a98b850084a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e5981fb73846a7" /><Relationship Type="http://schemas.openxmlformats.org/officeDocument/2006/relationships/notesMaster" Target="/ppt/notesMasters/notesMaster1.xml" Id="R9b2bad68f8ee46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0da7757b194aa6" /><Relationship Type="http://schemas.openxmlformats.org/officeDocument/2006/relationships/notesMaster" Target="/ppt/notesMasters/notesMaster1.xml" Id="R1705bc6f339640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a8c336d9c94cbd" /><Relationship Type="http://schemas.openxmlformats.org/officeDocument/2006/relationships/notesMaster" Target="/ppt/notesMasters/notesMaster1.xml" Id="R6b2d9d72d4c644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8573846654499c" /><Relationship Type="http://schemas.openxmlformats.org/officeDocument/2006/relationships/notesMaster" Target="/ppt/notesMasters/notesMaster1.xml" Id="R48ca0e9a420e49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6d3316931e49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6106f35d8f4e80" /><Relationship Type="http://schemas.openxmlformats.org/officeDocument/2006/relationships/slideLayout" Target="/ppt/slideLayouts/slideLayout1.xml" Id="Rea8f008dd11344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8f008dd11344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42f8882e24963" /><Relationship Type="http://schemas.openxmlformats.org/officeDocument/2006/relationships/notesSlide" Target="/ppt/notesSlides/notesSlide1.xml" Id="Rb959ce8104f04a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49a04920d4396" /><Relationship Type="http://schemas.openxmlformats.org/officeDocument/2006/relationships/notesSlide" Target="/ppt/notesSlides/notesSlide2.xml" Id="Rf6003ed7dfc341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77437c9e54a64" /><Relationship Type="http://schemas.openxmlformats.org/officeDocument/2006/relationships/notesSlide" Target="/ppt/notesSlides/notesSlide3.xml" Id="R23ff23bb7e9f47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0ed22c90e4407" /><Relationship Type="http://schemas.openxmlformats.org/officeDocument/2006/relationships/notesSlide" Target="/ppt/notesSlides/notesSlide4.xml" Id="Rdb3939c7100541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8590f0bf44473" /><Relationship Type="http://schemas.openxmlformats.org/officeDocument/2006/relationships/notesSlide" Target="/ppt/notesSlides/notesSlide5.xml" Id="R28a71b6c388247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046a94ca241a2" /><Relationship Type="http://schemas.openxmlformats.org/officeDocument/2006/relationships/image" Target="/ppt/media/image.png" Id="R6b5be71924914e06" /><Relationship Type="http://schemas.openxmlformats.org/officeDocument/2006/relationships/notesSlide" Target="/ppt/notesSlides/notesSlide6.xml" Id="R47d2c16b545442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11ab5b5314bad" /><Relationship Type="http://schemas.openxmlformats.org/officeDocument/2006/relationships/notesSlide" Target="/ppt/notesSlides/notesSlide7.xml" Id="R3b9708a7ad5244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37b8420ba4159" /><Relationship Type="http://schemas.openxmlformats.org/officeDocument/2006/relationships/image" Target="/ppt/media/image2.png" Id="R9434be25b38b477b" /><Relationship Type="http://schemas.openxmlformats.org/officeDocument/2006/relationships/notesSlide" Target="/ppt/notesSlides/notesSlide8.xml" Id="R4f898392cfbd48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d28229d364d7d" /><Relationship Type="http://schemas.openxmlformats.org/officeDocument/2006/relationships/image" Target="/ppt/media/image3.png" Id="Rc7461aa4b3f54706" /><Relationship Type="http://schemas.openxmlformats.org/officeDocument/2006/relationships/image" Target="/ppt/media/image4.png" Id="Recf9d57004fd434b" /><Relationship Type="http://schemas.openxmlformats.org/officeDocument/2006/relationships/notesSlide" Target="/ppt/notesSlides/notesSlide9.xml" Id="R580ce8f2e57a4e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627be27904249" /><Relationship Type="http://schemas.openxmlformats.org/officeDocument/2006/relationships/image" Target="/ppt/media/image5.png" Id="Rd68e5056f4024862" /><Relationship Type="http://schemas.openxmlformats.org/officeDocument/2006/relationships/image" Target="/ppt/media/image6.png" Id="R776b1202af93463c" /><Relationship Type="http://schemas.openxmlformats.org/officeDocument/2006/relationships/image" Target="/ppt/media/image7.png" Id="Rdddf454130ba4d62" /><Relationship Type="http://schemas.openxmlformats.org/officeDocument/2006/relationships/image" Target="/ppt/media/image8.png" Id="R348aef02b96d4a9d" /><Relationship Type="http://schemas.openxmlformats.org/officeDocument/2006/relationships/image" Target="/ppt/media/image9.png" Id="R64df14c538ee44eb" /><Relationship Type="http://schemas.openxmlformats.org/officeDocument/2006/relationships/image" Target="/ppt/media/image10.png" Id="R9075fc963b3e4262" /><Relationship Type="http://schemas.openxmlformats.org/officeDocument/2006/relationships/notesSlide" Target="/ppt/notesSlides/notesSlide10.xml" Id="Rcc0bd9086a144c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fe597bb0541aa" /><Relationship Type="http://schemas.openxmlformats.org/officeDocument/2006/relationships/image" Target="/ppt/media/image11.png" Id="Ra74f922e2492457c" /><Relationship Type="http://schemas.openxmlformats.org/officeDocument/2006/relationships/image" Target="/ppt/media/image12.png" Id="R3cbe4f1c30ca4108" /><Relationship Type="http://schemas.openxmlformats.org/officeDocument/2006/relationships/image" Target="/ppt/media/image13.png" Id="R0ba3f35af74a4b39" /><Relationship Type="http://schemas.openxmlformats.org/officeDocument/2006/relationships/notesSlide" Target="/ppt/notesSlides/notesSlide11.xml" Id="R22c1fc7aabaa44f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0F9A7FA-B09B-48D0-B703-03C8AA60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886B1B4-F399-47DE-8B92-DA01273E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143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A8C3E0F-A55D-45FE-8B61-890CA264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4295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A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0C90EF6-D0EB-4449-B007-17D48478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0125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SpotBook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A6D4772-43CF-47F1-8378-60A5061C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668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CEEF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EF2"/>
                </a:solidFill>
                <a:latin typeface="Aptos"/>
                <a:ea typeface="Aptos"/>
                <a:cs typeface="Aptos"/>
              </a:rPr>
              <a:t>Личный путеводитель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5D020AF-3AA4-4E9B-A00C-D7E18D4E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123950"/>
            <a:ext cx="657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Клиент-серверное мобильное приложение «Личный путеводитель»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F4A96BC-C397-47DE-ADCA-3EBFC076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10000"/>
            <a:ext cx="5791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F8F9641-E703-4491-8638-F394D5DB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38600"/>
            <a:ext cx="533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331"/>
                </a:solidFill>
                <a:latin typeface="Aptos"/>
                <a:ea typeface="Aptos"/>
                <a:cs typeface="Aptos"/>
              </a:rPr>
              <a:t>Выполнил</a:t>
            </a:r>
            <a:r>
              <a:rPr sz="1425" b="0">
                <a:solidFill>
                  <a:srgbClr val="172331"/>
                </a:solidFill>
                <a:latin typeface="Aptos"/>
                <a:ea typeface="Aptos"/>
                <a:cs typeface="Aptos"/>
              </a:rPr>
              <a:t>: Бондаренко И.В.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331"/>
                </a:solidFill>
                <a:latin typeface="Aptos"/>
                <a:ea typeface="Aptos"/>
                <a:cs typeface="Aptos"/>
              </a:rPr>
              <a:t>Тема</a:t>
            </a:r>
            <a:r>
              <a:rPr sz="1425" b="0">
                <a:solidFill>
                  <a:srgbClr val="172331"/>
                </a:solidFill>
                <a:latin typeface="Aptos"/>
                <a:ea typeface="Aptos"/>
                <a:cs typeface="Aptos"/>
              </a:rPr>
              <a:t>: </a:t>
            </a:r>
            <a:r>
              <a:rPr sz="1425" b="0">
                <a:solidFill>
                  <a:srgbClr val="172331"/>
                </a:solidFill>
                <a:latin typeface="Aptos"/>
                <a:ea typeface="Aptos"/>
                <a:cs typeface="Aptos"/>
              </a:rPr>
              <a:t>разработка</a:t>
            </a:r>
            <a:r>
              <a:rPr sz="1425" b="0">
                <a:solidFill>
                  <a:srgbClr val="172331"/>
                </a:solidFill>
                <a:latin typeface="Aptos"/>
                <a:ea typeface="Aptos"/>
                <a:cs typeface="Aptos"/>
              </a:rPr>
              <a:t> клиент-серверного</a:t>
            </a:r>
            <a:r>
              <a:rPr sz="1425" b="0">
                <a:solidFill>
                  <a:srgbClr val="172331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>
                <a:solidFill>
                  <a:srgbClr val="172331"/>
                </a:solidFill>
                <a:latin typeface="Aptos"/>
                <a:ea typeface="Aptos"/>
                <a:cs typeface="Aptos"/>
              </a:rPr>
              <a:t>мобильного</a:t>
            </a:r>
            <a:r>
              <a:rPr sz="1425" b="0">
                <a:solidFill>
                  <a:srgbClr val="172331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>
                <a:solidFill>
                  <a:srgbClr val="172331"/>
                </a:solidFill>
                <a:latin typeface="Aptos"/>
                <a:ea typeface="Aptos"/>
                <a:cs typeface="Aptos"/>
              </a:rPr>
              <a:t>приложения</a:t>
            </a:r>
            <a:r>
              <a:rPr sz="1425" b="0">
                <a:solidFill>
                  <a:srgbClr val="172331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>
                <a:solidFill>
                  <a:srgbClr val="172331"/>
                </a:solidFill>
                <a:latin typeface="Aptos"/>
                <a:ea typeface="Aptos"/>
                <a:cs typeface="Aptos"/>
              </a:rPr>
              <a:t>SpotBook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8BC2CDA-81E3-4A09-8093-C95790BA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8293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Курсовая работа · 2026</a:t>
            </a:r>
          </a:p>
        </p:txBody>
      </p:sp>
    </p:spTree>
    <p:extLst>
      <p:ext uri="{BB962C8B-B14F-4D97-AF65-F5344CB8AC3E}">
        <p14:creationId xmlns:p14="http://schemas.microsoft.com/office/powerpoint/2010/main" val="5673029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5869CE2A-B014-4849-8557-AEF39F6E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1BF07F-5BFB-412F-BAD7-35122EF1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5F9C736-514B-4A04-B6BE-682FC88B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SpotBook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A8D733D-1C3E-4231-B8E1-AD534D18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942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Введение и актуальность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B4C8156-591B-462A-9AB7-25F65275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2395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C564A89-E98B-4A34-A192-29D73DB8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23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3647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F3AAFAA-5F24-46A6-8D0E-513D8498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1057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6374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63746"/>
                </a:solidFill>
                <a:latin typeface="Aptos"/>
                <a:ea typeface="Aptos"/>
                <a:cs typeface="Aptos"/>
              </a:rPr>
              <a:t>Во время поездок и прогулок пользователь часто сохраняет места в разных источниках: заметках, галерее, картах и мессенджерах. Из-за этого сложно быстро найти адрес, фото, личный комментарий и понять, было место уже посещено или только запланировано.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38F54D8-FB6D-4475-A584-DBF4DB7C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3381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8E8FE5E-EC78-4AF3-82C0-1578521F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765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47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0D3EC17-CEE6-4EF2-BB54-B5E2EA5B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47950"/>
            <a:ext cx="3000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Разрозненн</a:t>
            </a:r>
            <a:r>
              <a:rPr sz="1425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ость</a:t>
            </a:r>
            <a:r>
              <a:rPr sz="1425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данны</a:t>
            </a:r>
            <a:r>
              <a:rPr sz="1425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х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9CC2FDF-6E0F-4863-BAD2-AEB75DDA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28950"/>
            <a:ext cx="29813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Фотографии, адреса и заметки обычно лежат отдельно, поэтому личная коллекция мест быстро становится неудобной.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8CCD6A4-FD70-4F79-8240-1900B87D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76500"/>
            <a:ext cx="3381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E9CC25B-077B-4C8D-B777-29499E8D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765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5C4DC29-A8DE-4D24-9217-945C05FF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47950"/>
            <a:ext cx="3000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Нужен быстрый локальный доступ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1BCE796-CF07-418A-A48F-08EBADDE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28950"/>
            <a:ext cx="29813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Карточки должны открываться на устройстве без постоянной загрузки данных с сервера.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3FA6921-4859-4069-AE61-37291F59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476500"/>
            <a:ext cx="3381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069322F-3428-47CB-92EB-4363AFA9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4765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F0733D76-5C79-4AE5-AA8E-025E2D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647950"/>
            <a:ext cx="3000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Нужна п</a:t>
            </a:r>
            <a:r>
              <a:rPr sz="1238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ростота</a:t>
            </a:r>
            <a:r>
              <a:rPr sz="1238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 использования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715E39E-CC2A-4F42-B21A-733094A3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028950"/>
            <a:ext cx="29813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Карточка</a:t>
            </a: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 </a:t>
            </a: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создаётся</a:t>
            </a: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 </a:t>
            </a: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за</a:t>
            </a: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 </a:t>
            </a: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несколько</a:t>
            </a: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 </a:t>
            </a: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шагов</a:t>
            </a: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: </a:t>
            </a: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название</a:t>
            </a: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, </a:t>
            </a: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адрес</a:t>
            </a: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, </a:t>
            </a: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статус</a:t>
            </a: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, </a:t>
            </a: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оценка</a:t>
            </a: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, </a:t>
            </a: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комментарий</a:t>
            </a: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 и </a:t>
            </a: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фотография</a:t>
            </a: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7A4325C-C878-4F4D-99C8-119442FD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0"/>
            <a:ext cx="11125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B8D1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04C1EDDB-00B4-4C40-BD96-BA2ADE7D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057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Решение: клиент-серверное приложение SpotBook, где личные карточки мест хранятся локально в Room, а при необходимости синхронизируются с backend-сервером на Ktor.</a:t>
            </a:r>
          </a:p>
        </p:txBody>
      </p:sp>
    </p:spTree>
    <p:extLst>
      <p:ext uri="{BB962C8B-B14F-4D97-AF65-F5344CB8AC3E}">
        <p14:creationId xmlns:p14="http://schemas.microsoft.com/office/powerpoint/2010/main" val="9711075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2F93F822-8BDE-4402-A295-4D634617D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0508E8C-A32D-485C-A1EE-F149BD78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3E40E69-EC40-440B-B624-BE37A9F2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SpotBook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34AF37D-C906-4089-8A10-F46CB8A1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942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Цель и задачи проекта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68C1D97-4ED6-466B-A2D3-684EE52E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2395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6453C0C-88B8-423F-A3C6-1F385141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23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3647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810CC33-AA47-491D-9288-723D4A44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328EB97-DEDE-4F9D-A5C1-4D0058BF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057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Цель: разработать клиент-серверное мобильное приложение для хранения личной коллекции мест, их группировки, просмотра фотографий и ручной синхронизации между Android-клиентом и сервером.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8709670-C4F7-486E-AED8-4BFC6439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3476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0FD79B5-3C6B-4748-A0CE-D872BEC4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43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87"/>
          </a:solidFill>
          <a:ln xmlns:a="http://schemas.openxmlformats.org/drawingml/2006/main" w="9525">
            <a:solidFill>
              <a:srgbClr val="2F6F8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34D501C-82D6-49D8-BFCF-F68664BB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908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537FA34-92D8-4244-BFFE-96CBACA1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724150"/>
            <a:ext cx="26384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Проектирование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FE6B6B6-87C9-4CC1-9EC7-14A01C10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048000"/>
            <a:ext cx="26384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описать требования, сценарии использования, архитектуру и модель данных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4598A5E-1CD2-43DC-99F6-CDE4E7DC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571750"/>
            <a:ext cx="3476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C92BC5C-E6CE-412E-9AA9-84D3EDFB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743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87"/>
          </a:solidFill>
          <a:ln xmlns:a="http://schemas.openxmlformats.org/drawingml/2006/main" w="9525">
            <a:solidFill>
              <a:srgbClr val="2F6F8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5BD5869-B264-428F-B6E4-AC26D15B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7908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61F7DFE-4B82-4697-A873-EBD86D8E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24150"/>
            <a:ext cx="26384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AFC4492-94B0-4FB5-9559-EF35EC1C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048000"/>
            <a:ext cx="26384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создать Ktor REST API, JWT-авторизацию, SQLite и хранение фотографий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958BEDC-14FA-4A60-9A7C-A584135E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571750"/>
            <a:ext cx="3476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FD457CBF-24B0-4B4A-A9AD-AE9D275A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743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87"/>
          </a:solidFill>
          <a:ln xmlns:a="http://schemas.openxmlformats.org/drawingml/2006/main" w="9525">
            <a:solidFill>
              <a:srgbClr val="2F6F8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D412D87-5BA4-4BDF-B566-448BB238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7908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AC0F3BF-3ADF-49DA-B7CB-508017CD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724150"/>
            <a:ext cx="26384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Android-клиент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979D29B-BB03-4A6B-9D19-C4FC35EA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48000"/>
            <a:ext cx="26384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реализовать Compose-экраны, навигацию, ViewModel и Room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BB336732-6E4B-4628-B299-6CA1AD4B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191000"/>
            <a:ext cx="3476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ECDD48A3-5F1E-489B-8D56-CCD90208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362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87"/>
          </a:solidFill>
          <a:ln xmlns:a="http://schemas.openxmlformats.org/drawingml/2006/main" w="9525">
            <a:solidFill>
              <a:srgbClr val="2F6F8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DC3D1542-2D85-4822-90E9-D2F31CA9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4100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BF6AABD7-FF65-42F3-8F07-162D8C0E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343400"/>
            <a:ext cx="26384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Синхронизация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BF3F6AE0-C432-463C-9BDF-0C0CE120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667250"/>
            <a:ext cx="26384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сделать ручной экспорт и импорт данных с учётом статусов записей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59309DA4-3F4E-446B-BD87-F26DBEB1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91000"/>
            <a:ext cx="3476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E0F674C8-23D5-448E-B7D8-2E9A8893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62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87"/>
          </a:solidFill>
          <a:ln xmlns:a="http://schemas.openxmlformats.org/drawingml/2006/main" w="9525">
            <a:solidFill>
              <a:srgbClr val="2F6F8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E6D31F0E-E6D9-4CE7-95A6-8167D7AF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100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4E488360-BF7C-48F6-B2BE-A47F582C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43400"/>
            <a:ext cx="26384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Проверка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A14C7AB3-724D-48C5-950E-989191A1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67250"/>
            <a:ext cx="26384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проверить запуск, CRUD, группы, фото, ориентацию и работу с сервером</a:t>
            </a:r>
          </a:p>
        </p:txBody>
      </p:sp>
    </p:spTree>
    <p:extLst>
      <p:ext uri="{BB962C8B-B14F-4D97-AF65-F5344CB8AC3E}">
        <p14:creationId xmlns:p14="http://schemas.microsoft.com/office/powerpoint/2010/main" val="179836662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311AE28C-872C-4523-9C03-DAA9792E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1C10F64-1B53-4F30-992C-EF2ABD92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2CC24F7-BD34-4560-97B0-550384BE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SpotBook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DF9791A-C476-4FA5-B0EC-AF879FEF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942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Сравнение SpotBook с аналогами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883A38A-AB70-4D12-988C-766A17BA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2395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9620CAE-3E6F-4310-B584-24CCD79D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23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3647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B78A48-7E80-411F-B795-D06A3C8A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42875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2DEE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B6E9EF-B9A9-4F24-8A0A-85769FEA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38275"/>
            <a:ext cx="13906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57150" rIns="76200" bIns="47625" anchor="ctr"/>
          <a:lstStyle xmlns:a="http://schemas.openxmlformats.org/drawingml/2006/main"/>
          <a:p xmlns:a="http://schemas.openxmlformats.org/drawingml/2006/main">
            <a:r>
              <a:rPr sz="938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Аналог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9F991E-F10E-4256-81C7-28B7F96F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409700"/>
            <a:ext cx="28575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2DEE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0C4891-B93E-4509-8D80-136121C3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438275"/>
            <a:ext cx="28194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57150" rIns="76200" bIns="47625" anchor="ctr"/>
          <a:lstStyle xmlns:a="http://schemas.openxmlformats.org/drawingml/2006/main"/>
          <a:p xmlns:a="http://schemas.openxmlformats.org/drawingml/2006/main">
            <a:r>
              <a:rPr sz="938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Сильные стороны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3A025C-3658-4B51-9C16-8B84BC4A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09700"/>
            <a:ext cx="314325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2DEE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9D9FB0-E8D6-42EB-97C8-44B901CC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438275"/>
            <a:ext cx="31051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57150" rIns="76200" bIns="47625" anchor="ctr"/>
          <a:lstStyle xmlns:a="http://schemas.openxmlformats.org/drawingml/2006/main"/>
          <a:p xmlns:a="http://schemas.openxmlformats.org/drawingml/2006/main">
            <a:r>
              <a:rPr sz="938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Слабые стороны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9A1603-BC42-4FDF-95F3-3887FAB5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09700"/>
            <a:ext cx="3810000" cy="4572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2DEE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DB83FF-720B-472F-B74B-4CA3D573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38275"/>
            <a:ext cx="37719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57150" rIns="76200" bIns="47625" anchor="ctr"/>
          <a:lstStyle xmlns:a="http://schemas.openxmlformats.org/drawingml/2006/main"/>
          <a:p xmlns:a="http://schemas.openxmlformats.org/drawingml/2006/main">
            <a:r>
              <a:rPr sz="938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Отличие SpotBook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14E00B-05AE-4004-BB94-90709F38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1428750" cy="8001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2DEE5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3D833A-9ECD-4F44-9760-7D4C1A8B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95475"/>
            <a:ext cx="13906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57150" rIns="76200" bIns="47625" anchor="ctr"/>
          <a:lstStyle xmlns:a="http://schemas.openxmlformats.org/drawingml/2006/main"/>
          <a:p xmlns:a="http://schemas.openxmlformats.org/drawingml/2006/main">
            <a:r>
              <a:rPr sz="863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Google Maps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5B180D4-5384-443E-955D-61B4430F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66900"/>
            <a:ext cx="2857500" cy="8001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2DEE5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2ED982F-7A43-41E3-B6E1-842815E8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895475"/>
            <a:ext cx="281940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57150" rIns="76200" bIns="47625" anchor="ctr"/>
          <a:lstStyle xmlns:a="http://schemas.openxmlformats.org/drawingml/2006/main"/>
          <a:p xmlns:a="http://schemas.openxmlformats.org/drawingml/2006/main">
            <a:r>
              <a:rPr sz="840" b="0">
                <a:solidFill>
                  <a:srgbClr val="172331"/>
                </a:solidFill>
                <a:latin typeface="Aptos"/>
                <a:ea typeface="Aptos"/>
                <a:cs typeface="Aptos"/>
              </a:rPr>
              <a:t>карты, навигация, маршруты, отзывы, большая база мест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8209EFE-525D-4254-919D-33696F7B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66900"/>
            <a:ext cx="3143250" cy="8001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2DEE5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032AB5A-14F3-4F29-8C8F-32F7A6DC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95475"/>
            <a:ext cx="31051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57150" rIns="76200" bIns="47625" anchor="ctr"/>
          <a:lstStyle xmlns:a="http://schemas.openxmlformats.org/drawingml/2006/main"/>
          <a:p xmlns:a="http://schemas.openxmlformats.org/drawingml/2006/main">
            <a:r>
              <a:rPr sz="840" b="0">
                <a:solidFill>
                  <a:srgbClr val="172331"/>
                </a:solidFill>
                <a:latin typeface="Aptos"/>
                <a:ea typeface="Aptos"/>
                <a:cs typeface="Aptos"/>
              </a:rPr>
              <a:t>мало настраиваемых полей для личных карточек; зависимость от Google-аккаунта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0D37D3-C79A-4DCD-AFE4-C9CD1CA1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66900"/>
            <a:ext cx="3810000" cy="8001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2DEE5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192FADD-A171-40A3-A705-88C95672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95475"/>
            <a:ext cx="377190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57150" rIns="76200" bIns="47625" anchor="ctr"/>
          <a:lstStyle xmlns:a="http://schemas.openxmlformats.org/drawingml/2006/main"/>
          <a:p xmlns:a="http://schemas.openxmlformats.org/drawingml/2006/main">
            <a:r>
              <a:rPr sz="840" b="1">
                <a:solidFill>
                  <a:srgbClr val="174F3B"/>
                </a:solidFill>
                <a:latin typeface="Aptos"/>
                <a:ea typeface="Aptos"/>
                <a:cs typeface="Aptos"/>
              </a:rPr>
              <a:t>SpotBook хранит собственные карточки с фото, оценкой, статусом и группами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F6C7E1E-7DA5-4135-BA99-DFE4B70A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1428750" cy="8001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2DEE5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127C994-48EA-4325-B462-32F550C1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95575"/>
            <a:ext cx="13906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57150" rIns="76200" bIns="47625" anchor="ctr"/>
          <a:lstStyle xmlns:a="http://schemas.openxmlformats.org/drawingml/2006/main"/>
          <a:p xmlns:a="http://schemas.openxmlformats.org/drawingml/2006/main">
            <a:r>
              <a:rPr sz="863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Notion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07046C4-3451-417E-BA26-BC14ABF3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667000"/>
            <a:ext cx="2857500" cy="8001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2DEE5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E1C950A-5127-4F28-A271-7BC0E350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695575"/>
            <a:ext cx="281940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57150" rIns="76200" bIns="47625" anchor="ctr"/>
          <a:lstStyle xmlns:a="http://schemas.openxmlformats.org/drawingml/2006/main"/>
          <a:p xmlns:a="http://schemas.openxmlformats.org/drawingml/2006/main">
            <a:r>
              <a:rPr sz="840" b="0">
                <a:solidFill>
                  <a:srgbClr val="172331"/>
                </a:solidFill>
                <a:latin typeface="Aptos"/>
                <a:ea typeface="Aptos"/>
                <a:cs typeface="Aptos"/>
              </a:rPr>
              <a:t>гибкие базы данных, заметки, вложения, собственные поля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E2329D2-1FCF-44A3-A5FE-EF6EEA9B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67000"/>
            <a:ext cx="3143250" cy="8001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2DEE5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EF2ED80-0A39-426A-A109-F544B9D7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95575"/>
            <a:ext cx="31051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57150" rIns="76200" bIns="47625" anchor="ctr"/>
          <a:lstStyle xmlns:a="http://schemas.openxmlformats.org/drawingml/2006/main"/>
          <a:p xmlns:a="http://schemas.openxmlformats.org/drawingml/2006/main">
            <a:r>
              <a:rPr sz="840" b="0">
                <a:solidFill>
                  <a:srgbClr val="172331"/>
                </a:solidFill>
                <a:latin typeface="Aptos"/>
                <a:ea typeface="Aptos"/>
                <a:cs typeface="Aptos"/>
              </a:rPr>
              <a:t>нет готового сценария для мест: статусов посещения, групп и синхронизации с backend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727C7F8-E2F2-4162-A6D5-13982EE2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67000"/>
            <a:ext cx="3810000" cy="8001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2DEE5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F76771D-10E1-4160-B04E-15EBF866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95575"/>
            <a:ext cx="377190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57150" rIns="76200" bIns="47625" anchor="ctr"/>
          <a:lstStyle xmlns:a="http://schemas.openxmlformats.org/drawingml/2006/main"/>
          <a:p xmlns:a="http://schemas.openxmlformats.org/drawingml/2006/main">
            <a:r>
              <a:rPr sz="840" b="1">
                <a:solidFill>
                  <a:srgbClr val="174F3B"/>
                </a:solidFill>
                <a:latin typeface="Aptos"/>
                <a:ea typeface="Aptos"/>
                <a:cs typeface="Aptos"/>
              </a:rPr>
              <a:t>SpotBook сразу ориентирован на личную коллекцию мест и работает с локальной Room-базой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20D6F2A-48F8-47AC-98DB-90B9B444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1428750" cy="8001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2DEE5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8018C54-FD3B-4808-93C1-2C44761C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95675"/>
            <a:ext cx="13906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57150" rIns="76200" bIns="47625" anchor="ctr"/>
          <a:lstStyle xmlns:a="http://schemas.openxmlformats.org/drawingml/2006/main"/>
          <a:p xmlns:a="http://schemas.openxmlformats.org/drawingml/2006/main">
            <a:r>
              <a:rPr sz="863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TripAdvisor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085B610-5E1E-4268-A9AE-9CB717BA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467100"/>
            <a:ext cx="2857500" cy="8001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2DEE5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8082FD7-88BC-4B05-B980-703384E7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495675"/>
            <a:ext cx="281940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57150" rIns="76200" bIns="47625" anchor="ctr"/>
          <a:lstStyle xmlns:a="http://schemas.openxmlformats.org/drawingml/2006/main"/>
          <a:p xmlns:a="http://schemas.openxmlformats.org/drawingml/2006/main">
            <a:r>
              <a:rPr sz="840" b="0">
                <a:solidFill>
                  <a:srgbClr val="172331"/>
                </a:solidFill>
                <a:latin typeface="Aptos"/>
                <a:ea typeface="Aptos"/>
                <a:cs typeface="Aptos"/>
              </a:rPr>
              <a:t>отзывы, рейтинги, подборки, туристические рекомендации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95C8AC4-977C-4B6B-9016-FC8E3373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67100"/>
            <a:ext cx="3143250" cy="8001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2DEE5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A9E859D-96AF-4E0D-BC07-87EFBCED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95675"/>
            <a:ext cx="31051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57150" rIns="76200" bIns="47625" anchor="ctr"/>
          <a:lstStyle xmlns:a="http://schemas.openxmlformats.org/drawingml/2006/main"/>
          <a:p xmlns:a="http://schemas.openxmlformats.org/drawingml/2006/main">
            <a:r>
              <a:rPr sz="840" b="0">
                <a:solidFill>
                  <a:srgbClr val="172331"/>
                </a:solidFill>
                <a:latin typeface="Aptos"/>
                <a:ea typeface="Aptos"/>
                <a:cs typeface="Aptos"/>
              </a:rPr>
              <a:t>акцент на публичной информации и рекомендациях, а не на личных заметках пользователя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C16BACB-AB42-439D-875A-161E4C3D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67100"/>
            <a:ext cx="3810000" cy="8001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2DEE5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9B0EC5D-A8A5-449A-8665-491BB832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95675"/>
            <a:ext cx="377190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57150" rIns="76200" bIns="47625" anchor="ctr"/>
          <a:lstStyle xmlns:a="http://schemas.openxmlformats.org/drawingml/2006/main"/>
          <a:p xmlns:a="http://schemas.openxmlformats.org/drawingml/2006/main">
            <a:r>
              <a:rPr sz="840" b="1">
                <a:solidFill>
                  <a:srgbClr val="174F3B"/>
                </a:solidFill>
                <a:latin typeface="Aptos"/>
                <a:ea typeface="Aptos"/>
                <a:cs typeface="Aptos"/>
              </a:rPr>
              <a:t>SpotBook предназначен для приватного хранения посещённых и запланированных мест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414CD82-3CD4-4940-BD3B-F107980A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1428750" cy="8001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2DEE5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CAAC166-A03E-4BF3-930A-A8478F19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95775"/>
            <a:ext cx="13906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57150" rIns="76200" bIns="47625" anchor="ctr"/>
          <a:lstStyle xmlns:a="http://schemas.openxmlformats.org/drawingml/2006/main"/>
          <a:p xmlns:a="http://schemas.openxmlformats.org/drawingml/2006/main">
            <a:r>
              <a:rPr sz="863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Mapstr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4906B7D-0D4F-4115-89F9-BC3F61A1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267200"/>
            <a:ext cx="2857500" cy="8001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2DEE5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7B5478F-9FBF-433B-A65A-7620AD9F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295775"/>
            <a:ext cx="281940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57150" rIns="76200" bIns="47625" anchor="ctr"/>
          <a:lstStyle xmlns:a="http://schemas.openxmlformats.org/drawingml/2006/main"/>
          <a:p xmlns:a="http://schemas.openxmlformats.org/drawingml/2006/main">
            <a:r>
              <a:rPr sz="840" b="0">
                <a:solidFill>
                  <a:srgbClr val="172331"/>
                </a:solidFill>
                <a:latin typeface="Aptos"/>
                <a:ea typeface="Aptos"/>
                <a:cs typeface="Aptos"/>
              </a:rPr>
              <a:t>личная карта, теги, комментарии, сохранение мест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156154D-4AFB-4D77-80A4-BD7895AF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67200"/>
            <a:ext cx="3143250" cy="8001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2DEE5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BD3F276-D9D6-4E1F-B622-AEBD420B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95775"/>
            <a:ext cx="31051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57150" rIns="76200" bIns="47625" anchor="ctr"/>
          <a:lstStyle xmlns:a="http://schemas.openxmlformats.org/drawingml/2006/main"/>
          <a:p xmlns:a="http://schemas.openxmlformats.org/drawingml/2006/main">
            <a:r>
              <a:rPr sz="840" b="0">
                <a:solidFill>
                  <a:srgbClr val="172331"/>
                </a:solidFill>
                <a:latin typeface="Aptos"/>
                <a:ea typeface="Aptos"/>
                <a:cs typeface="Aptos"/>
              </a:rPr>
              <a:t>логика хранения и синхронизации скрыта внутри сервиса; меньше контроля над обменом данными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CA9B368-5E82-4225-8A56-F1330DF9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67200"/>
            <a:ext cx="3810000" cy="8001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2DEE5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7027257-6F4A-4373-8405-2CA6BE37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95775"/>
            <a:ext cx="377190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57150" rIns="76200" bIns="47625" anchor="ctr"/>
          <a:lstStyle xmlns:a="http://schemas.openxmlformats.org/drawingml/2006/main"/>
          <a:p xmlns:a="http://schemas.openxmlformats.org/drawingml/2006/main">
            <a:r>
              <a:rPr sz="840" b="1">
                <a:solidFill>
                  <a:srgbClr val="174F3B"/>
                </a:solidFill>
                <a:latin typeface="Aptos"/>
                <a:ea typeface="Aptos"/>
                <a:cs typeface="Aptos"/>
              </a:rPr>
              <a:t>SpotBook даёт ручной экспорт и импорт между телефоном и собственным Ktor-сервером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6EACBA8-6454-4163-8921-E5E52CB2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1428750" cy="8001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2DEE5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4BBA95F-C232-44A6-9627-D6698BE9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95875"/>
            <a:ext cx="13906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57150" rIns="76200" bIns="47625" anchor="ctr"/>
          <a:lstStyle xmlns:a="http://schemas.openxmlformats.org/drawingml/2006/main"/>
          <a:p xmlns:a="http://schemas.openxmlformats.org/drawingml/2006/main">
            <a:r>
              <a:rPr sz="863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Sygic Travel /</a:t>
            </a:r>
          </a:p>
          <a:p xmlns:a="http://schemas.openxmlformats.org/drawingml/2006/main">
            <a:r>
              <a:rPr sz="863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Tripomatic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296C432-DDCE-45B4-89D1-C704EE37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067300"/>
            <a:ext cx="2857500" cy="8001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2DEE5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F1E79E3-C35D-4820-8CA6-1FCA072A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95875"/>
            <a:ext cx="281940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57150" rIns="76200" bIns="47625" anchor="ctr"/>
          <a:lstStyle xmlns:a="http://schemas.openxmlformats.org/drawingml/2006/main"/>
          <a:p xmlns:a="http://schemas.openxmlformats.org/drawingml/2006/main">
            <a:r>
              <a:rPr sz="840" b="0">
                <a:solidFill>
                  <a:srgbClr val="172331"/>
                </a:solidFill>
                <a:latin typeface="Aptos"/>
                <a:ea typeface="Aptos"/>
                <a:cs typeface="Aptos"/>
              </a:rPr>
              <a:t>планирование поездок, маршруты, офлайн-карты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2AAC78A-E1B6-4FB7-82E1-3432D2E6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67300"/>
            <a:ext cx="3143250" cy="8001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2DEE5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D6C68EE-DF0F-4CD9-A7CF-38BC20F4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095875"/>
            <a:ext cx="310515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57150" rIns="76200" bIns="47625" anchor="ctr"/>
          <a:lstStyle xmlns:a="http://schemas.openxmlformats.org/drawingml/2006/main"/>
          <a:p xmlns:a="http://schemas.openxmlformats.org/drawingml/2006/main">
            <a:r>
              <a:rPr sz="840" b="0">
                <a:solidFill>
                  <a:srgbClr val="172331"/>
                </a:solidFill>
                <a:latin typeface="Aptos"/>
                <a:ea typeface="Aptos"/>
                <a:cs typeface="Aptos"/>
              </a:rPr>
              <a:t>лучше подходит для маршрутов, чем для долгосрочной базы личных карточек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F8E9505-0AD2-49F1-9B99-BAF618CC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067300"/>
            <a:ext cx="3810000" cy="8001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2DEE5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FCCE30D-8F2A-47B1-AA26-7FBAC2D2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95875"/>
            <a:ext cx="377190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76200" tIns="57150" rIns="76200" bIns="47625" anchor="ctr"/>
          <a:lstStyle xmlns:a="http://schemas.openxmlformats.org/drawingml/2006/main"/>
          <a:p xmlns:a="http://schemas.openxmlformats.org/drawingml/2006/main">
            <a:r>
              <a:rPr sz="840" b="1">
                <a:solidFill>
                  <a:srgbClr val="174F3B"/>
                </a:solidFill>
                <a:latin typeface="Aptos"/>
                <a:ea typeface="Aptos"/>
                <a:cs typeface="Aptos"/>
              </a:rPr>
              <a:t>SpotBook проще и сфокусирован на хранении карточек, группах и фотографиях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3D7B4A5-17C8-4AD8-80C8-ADB47196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38850"/>
            <a:ext cx="11239500" cy="3048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C6DDE5"/>
            </a:solidFill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r>
              <a:rPr sz="863" b="1">
                <a:solidFill>
                  <a:srgbClr val="1F5262"/>
                </a:solidFill>
              </a:rPr>
              <a:t>Вывод: SpotBook не заменяет карты и туристические сервисы, а закрывает задачу личного хранения карточек мест с локальной базой и ручной синхронизацией.</a:t>
            </a:r>
          </a:p>
        </p:txBody>
      </p:sp>
    </p:spTree>
    <p:extLst>
      <p:ext uri="{BB962C8B-B14F-4D97-AF65-F5344CB8AC3E}">
        <p14:creationId xmlns:p14="http://schemas.microsoft.com/office/powerpoint/2010/main" val="15240904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04E3B42A-3FD4-40AB-A916-33C7A7C3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A456F95-9992-4E74-8E9C-D17A59A2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327F420-D9C9-45F5-9F5D-04111B95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SpotBook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02C3E4E-F951-4036-8CCD-ED462DDE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942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Функциональные требования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68A822B-8833-478B-AFB9-597D4EB5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2395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53441BC-5DBA-48F1-B3BB-5E554A5D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23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3647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94D518B-9FDC-4251-9888-AE24C572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3333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FA4851E-DA8E-4A11-94C8-B29EC667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FB52D91-125C-4682-8275-65C0D8BE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0020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Авторизация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D63C050-73B9-4479-8959-999EEF6C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81200"/>
            <a:ext cx="2933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регистрация и вход по email/password; пароль хранится только в виде хэша; защищённые запросы идут с JWT.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36EEB73-17B3-4EBF-8428-E7645638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3333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5B70DAC-F200-4E3F-9AD9-E5C9F283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053D23E-1328-4E01-915F-6E1C6EAD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60020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Карточки мест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52670B8-3863-4249-ACD4-C55DC3DF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81200"/>
            <a:ext cx="2933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создание, просмотр, редактирование, удаление, статус «Хочу посетить» / «Посещено», оценка и комментарий.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D5CD1AE-DD58-49CC-B2CE-F525B1EA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28750"/>
            <a:ext cx="3333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DC21DB1-018E-405B-A3A8-2D269821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287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C93E385-482F-4A7C-A34D-40D249FF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60020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Фотографии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2408A3B-0FB8-40C9-A1BD-5B5E8462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981200"/>
            <a:ext cx="2933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пользователь выбирает одно фото; оно сохраняется локально и может быть отправлено на сервер.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B043C8A-F1E1-451E-9496-24A72EDB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95625"/>
            <a:ext cx="3333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DCC923B-2DFD-4EAE-9F9F-FCE7D8FA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95625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A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B4C70E3-DC16-4086-B7F7-92C4086B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67075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Группы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AADCA3F-59A1-45D8-9E07-810B265C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48075"/>
            <a:ext cx="2933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создание групп, просмотр карточек внутри группы, удаление связи без удаления самой карточки.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3171C775-8566-420B-BD9A-9E7AED33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95625"/>
            <a:ext cx="3333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DB36062-E610-4C18-8F47-A6E22A23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95625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01D9571-7EE6-49D9-B477-DBE4E880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267075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Локальное хранение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1E72F559-4FF0-4987-8098-30C1DDA5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648075"/>
            <a:ext cx="2933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данные сначала сохраняются в Room; записи имеют syncStatus: SYNCED, NOT_SYNCED или DELETED.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29045B9-7F9A-411A-B2D3-CF4EE728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95625"/>
            <a:ext cx="3333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69C3017-4F79-495A-9DAF-36A7DE6D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95625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47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C0251AF8-3039-4992-A19A-447BCE4D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267075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Ручная синхронизация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26B2FC1C-2084-4BD5-A902-0F5ADF45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648075"/>
            <a:ext cx="2933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экспорт отправляет локальные изменения на backend, импорт загружает актуальные данные пользователя.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0BB1CF77-091B-4A4B-AAB8-151F9666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1066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Дополнительно: сохранение авторизации при повторном входе в приложение и корректная работа при повороте экрана.</a:t>
            </a:r>
          </a:p>
        </p:txBody>
      </p:sp>
    </p:spTree>
    <p:extLst>
      <p:ext uri="{BB962C8B-B14F-4D97-AF65-F5344CB8AC3E}">
        <p14:creationId xmlns:p14="http://schemas.microsoft.com/office/powerpoint/2010/main" val="3072243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8EC136A-B0BA-48F1-91AE-C081EA86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BD05444-2616-4798-A86F-7B571ECB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206345E-917C-4317-A878-969220A7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SpotBook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5EDEB9D-1BE9-49AB-884E-54B25650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942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Варианты использования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3E1B3AF-5D7B-492E-A9A1-D1F47257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2395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64775C8-9AF0-477B-B434-57F9965F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23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3647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B574872-B276-423D-A956-BF8FBBE1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71625"/>
            <a:ext cx="49530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331"/>
                </a:solidFill>
                <a:latin typeface="Aptos"/>
                <a:ea typeface="Aptos"/>
                <a:cs typeface="Aptos"/>
              </a:rPr>
              <a:t>• регистрация и вход пользователя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331"/>
                </a:solidFill>
                <a:latin typeface="Aptos"/>
                <a:ea typeface="Aptos"/>
                <a:cs typeface="Aptos"/>
              </a:rPr>
              <a:t>• создание карточки места с адресом, оценкой и фото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331"/>
                </a:solidFill>
                <a:latin typeface="Aptos"/>
                <a:ea typeface="Aptos"/>
                <a:cs typeface="Aptos"/>
              </a:rPr>
              <a:t>• просмотр списка и подробной информации о карточке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331"/>
                </a:solidFill>
                <a:latin typeface="Aptos"/>
                <a:ea typeface="Aptos"/>
                <a:cs typeface="Aptos"/>
              </a:rPr>
              <a:t>• редактирование, удаление и изменение статуса посещения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331"/>
                </a:solidFill>
                <a:latin typeface="Aptos"/>
                <a:ea typeface="Aptos"/>
                <a:cs typeface="Aptos"/>
              </a:rPr>
              <a:t>• создание групп и привязка карточек к группе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331"/>
                </a:solidFill>
                <a:latin typeface="Aptos"/>
                <a:ea typeface="Aptos"/>
                <a:cs typeface="Aptos"/>
              </a:rPr>
              <a:t>• экспорт локальных изменений на сервер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331"/>
                </a:solidFill>
                <a:latin typeface="Aptos"/>
                <a:ea typeface="Aptos"/>
                <a:cs typeface="Aptos"/>
              </a:rPr>
              <a:t>• импорт серверных данных обратно в Room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0FEFD37-6C19-46B5-B385-3E5168CE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191124"/>
            <a:ext cx="4953000" cy="8262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CD373A3-91C7-4734-BA2A-F5C3CDA3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3400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Главный актор — авторизованный пользователь. Сервер выполняет проверку токена и возвращает только данные текущего пользователя.</a:t>
            </a:r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5be71924914e06"/>
          <a:stretch xmlns:a="http://schemas.openxmlformats.org/drawingml/2006/main"/>
        </p:blipFill>
        <p:spPr>
          <a:xfrm xmlns:a="http://schemas.openxmlformats.org/drawingml/2006/main">
            <a:off x="523875" y="1584382"/>
            <a:ext cx="5429250" cy="397498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77953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5CE56AFE-6671-497E-A868-E7E81667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6611CCB-5225-41BA-A41A-C8419479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27EBAC9-D136-4E03-9649-313249DC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SpotBook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BEAEF6B-DB52-4F2A-BEE2-CF6906CE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942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Технологии разработки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E31E994-6DDF-41E7-9070-518BD518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2395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568DA5C-06FD-4C49-9CDC-F819007C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23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3647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3E3E478-9BCB-4C73-8432-CCE6C9F6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C231A3A-1E2B-4E88-AE55-C4FDA252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Android-клиент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80FBB07-F686-4B91-8FA8-1252DEF2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B8D1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3D1900E-C52C-44BE-B065-98708B67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57425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Kotlin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3AED537-86DF-462C-ABF3-E6EC3766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907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B8D1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DE95ECE-D829-4FB9-8147-EEDA0291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57425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Jetpack Compose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5F24DA0-D88B-4704-ADBC-04E21F80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9075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B8D1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1C3AB5A-6925-4AD7-ACEC-C4283018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57425"/>
            <a:ext cx="9620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Material 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61432FA-7C57-43D5-B0FE-F598A7DB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B8D1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4B9EAF0-20FA-44EE-B541-30E0AD14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52725"/>
            <a:ext cx="1152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Navigation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CC59D64-3C36-446F-8087-1A572EE4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6860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B8D1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3EE54CA-77F2-46B4-B827-4434FEED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752725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ViewModel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35FB2140-6E80-4324-9AD5-115790C3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86050"/>
            <a:ext cx="1000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B8D1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7329044-72C1-4392-9868-BC2D70BE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752725"/>
            <a:ext cx="771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Room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3C7CEB5-A470-4C92-A32F-34C1711A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B8D1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6C91D754-59F5-48F6-A3D3-27E77C29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48025"/>
            <a:ext cx="1152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Ktor Client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C56A0D4F-4BF6-40D1-BDD0-0C319D34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1813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B8D1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A191AC4-A980-494F-AF33-1AA45164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248025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Coil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F832CC1-AAB4-40E8-AF7B-319531F2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813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B8D1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4F0297E8-94AD-49C2-B112-8657F4DB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248025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SharedPreferences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853E292-A71A-4C8F-916D-A03EF8EE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4333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Назначение: интерфейс, навигация, локальное хранение, работа с JWT и отправка запросов к серверу.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A5BC7C0-33FD-40D3-8CEC-314D8193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875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0A45BDB5-50C9-4F88-8863-7999D7F8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Backend и база данных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B4B63605-1002-4684-B82E-0FAA6A2C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907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B8D1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5C15FCF5-2BA1-4D8B-B3AD-D050D2FA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57425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Kotlin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BDD0974B-8056-4249-BF4D-7579EB00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B8D1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E1701F1C-4938-4CC4-B452-6E9509B4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57425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Ktor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D2921216-8F73-4E29-9B8A-C59768B0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1190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B8D1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03B2912E-CD15-476A-9F9D-2536210D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57425"/>
            <a:ext cx="9620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REST API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0AF7599E-6BEA-44E2-882F-0EF8A270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86050"/>
            <a:ext cx="1095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B8D1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F8C1EE30-2548-44BD-90F3-007C087F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52725"/>
            <a:ext cx="8667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SQLite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724B2894-2735-4A26-BA8D-DAC2D0D9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860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B8D1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3B261661-7565-4840-804B-8C6D985D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752725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JWT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0D3B73EC-FA7F-466C-8BCB-A1CE0C69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686050"/>
            <a:ext cx="147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B8D1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3A61428C-E0B5-434B-A702-43FEECAD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52725"/>
            <a:ext cx="12477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PBKDF2 hash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51B1379D-F385-41B1-B9AB-4B0F8A9F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813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B8D1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2A92FA29-281E-472F-848E-0092F864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48025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kotlinx.serialization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250A2F82-0B00-4195-92B4-BD72E620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81350"/>
            <a:ext cx="1571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6"/>
          </a:solidFill>
          <a:ln xmlns:a="http://schemas.openxmlformats.org/drawingml/2006/main" w="9525">
            <a:solidFill>
              <a:srgbClr val="B8D1D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12A7D161-BC6C-43EB-85E6-93034247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48025"/>
            <a:ext cx="13430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88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Multipart фото</a:t>
            </a:r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DFB1DDCE-8B53-40C6-978E-F1810E9F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52875"/>
            <a:ext cx="4333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Назначение: регистрация, авторизация, проверка токена, REST-маршруты, SQLite и хранение файлов фотографий.</a:t>
            </a:r>
          </a:p>
        </p:txBody>
      </p:sp>
    </p:spTree>
    <p:extLst>
      <p:ext uri="{BB962C8B-B14F-4D97-AF65-F5344CB8AC3E}">
        <p14:creationId xmlns:p14="http://schemas.microsoft.com/office/powerpoint/2010/main" val="15232412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442B279D-3D30-4BF5-A763-2D9A4D4E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AC17926-AF89-400F-9E57-ABEF2942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49136F0-2C83-4881-B7E8-CC4DDA2A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SpotBook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A875FDD-A05F-40E7-9AF0-CD08BDE9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942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Архитектура приложения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A8A6839-9318-448C-8CDB-8252533F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2395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78D00D6-12DB-4417-B566-A304FA49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23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36477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pic>
        <p:nvPicPr>
          <p:cNvPr id="33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4be25b38b477b"/>
          <a:stretch xmlns:a="http://schemas.openxmlformats.org/drawingml/2006/main"/>
        </p:blipFill>
        <p:spPr>
          <a:xfrm xmlns:a="http://schemas.openxmlformats.org/drawingml/2006/main">
            <a:off x="1976832" y="1285875"/>
            <a:ext cx="8238336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12572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ACA79DBA-2034-435F-9BB8-CEED00A0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16E93EB-6FBE-45CC-BE25-CEF7F372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B8F768D-F83C-459E-90B9-EA94BB71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SpotBook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A6BD77E-7963-4836-B2A9-56E86264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942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Модель хранения данных и синхронизация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1D06764-45D8-42EE-ABD0-09D65A41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2395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A9DF226-1A63-4EBF-AE6A-060BFD65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23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36477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pic>
        <p:nvPicPr>
          <p:cNvPr id="30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61aa4b3f54706"/>
          <a:stretch xmlns:a="http://schemas.openxmlformats.org/drawingml/2006/main"/>
        </p:blipFill>
        <p:spPr>
          <a:xfrm xmlns:a="http://schemas.openxmlformats.org/drawingml/2006/main">
            <a:off x="333375" y="1979839"/>
            <a:ext cx="5715000" cy="3469821"/>
          </a:xfrm>
          <a:prstGeom xmlns:a="http://schemas.openxmlformats.org/drawingml/2006/main" prst="rect">
            <a:avLst/>
          </a:prstGeom>
        </p:spPr>
      </p:pic>
      <p:pic>
        <p:nvPicPr>
          <p:cNvPr id="31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f9d57004fd434b"/>
          <a:stretch xmlns:a="http://schemas.openxmlformats.org/drawingml/2006/main"/>
        </p:blipFill>
        <p:spPr>
          <a:xfrm xmlns:a="http://schemas.openxmlformats.org/drawingml/2006/main">
            <a:off x="6143625" y="1690688"/>
            <a:ext cx="5715000" cy="4048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87775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e5056f4024862"/>
          <a:stretch xmlns:a="http://schemas.openxmlformats.org/drawingml/2006/main"/>
        </p:blipFill>
        <p:spPr>
          <a:xfrm xmlns:a="http://schemas.openxmlformats.org/drawingml/2006/main">
            <a:off x="247650" y="1429808"/>
            <a:ext cx="1790700" cy="3979333"/>
          </a:xfrm>
          <a:prstGeom xmlns:a="http://schemas.openxmlformats.org/drawingml/2006/main" prst="rect">
            <a:avLst/>
          </a:prstGeom>
        </p:spPr>
      </p:pic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6b1202af93463c"/>
          <a:stretch xmlns:a="http://schemas.openxmlformats.org/drawingml/2006/main"/>
        </p:blipFill>
        <p:spPr>
          <a:xfrm xmlns:a="http://schemas.openxmlformats.org/drawingml/2006/main">
            <a:off x="2228850" y="1429808"/>
            <a:ext cx="1790700" cy="3979333"/>
          </a:xfrm>
          <a:prstGeom xmlns:a="http://schemas.openxmlformats.org/drawingml/2006/main" prst="rect">
            <a:avLst/>
          </a:prstGeom>
        </p:spPr>
      </p:pic>
      <p:pic>
        <p:nvPicPr>
          <p:cNvPr id="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f454130ba4d62"/>
          <a:stretch xmlns:a="http://schemas.openxmlformats.org/drawingml/2006/main"/>
        </p:blipFill>
        <p:spPr>
          <a:xfrm xmlns:a="http://schemas.openxmlformats.org/drawingml/2006/main">
            <a:off x="4210050" y="1429808"/>
            <a:ext cx="1790700" cy="3979333"/>
          </a:xfrm>
          <a:prstGeom xmlns:a="http://schemas.openxmlformats.org/drawingml/2006/main" prst="rect">
            <a:avLst/>
          </a:prstGeom>
        </p:spPr>
      </p:pic>
      <p:pic>
        <p:nvPicPr>
          <p:cNvPr id="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aef02b96d4a9d"/>
          <a:stretch xmlns:a="http://schemas.openxmlformats.org/drawingml/2006/main"/>
        </p:blipFill>
        <p:spPr>
          <a:xfrm xmlns:a="http://schemas.openxmlformats.org/drawingml/2006/main">
            <a:off x="6191250" y="1429808"/>
            <a:ext cx="1790700" cy="3979333"/>
          </a:xfrm>
          <a:prstGeom xmlns:a="http://schemas.openxmlformats.org/drawingml/2006/main" prst="rect">
            <a:avLst/>
          </a:prstGeom>
        </p:spPr>
      </p:pic>
      <p:pic>
        <p:nvPicPr>
          <p:cNvPr id="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df14c538ee44eb"/>
          <a:stretch xmlns:a="http://schemas.openxmlformats.org/drawingml/2006/main"/>
        </p:blipFill>
        <p:spPr>
          <a:xfrm xmlns:a="http://schemas.openxmlformats.org/drawingml/2006/main">
            <a:off x="8172450" y="1429808"/>
            <a:ext cx="1790700" cy="3979333"/>
          </a:xfrm>
          <a:prstGeom xmlns:a="http://schemas.openxmlformats.org/drawingml/2006/main" prst="rect">
            <a:avLst/>
          </a:prstGeom>
        </p:spPr>
      </p:pic>
      <p:pic>
        <p:nvPicPr>
          <p:cNvPr id="6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5fc963b3e4262"/>
          <a:stretch xmlns:a="http://schemas.openxmlformats.org/drawingml/2006/main"/>
        </p:blipFill>
        <p:spPr>
          <a:xfrm xmlns:a="http://schemas.openxmlformats.org/drawingml/2006/main">
            <a:off x="10153650" y="1429808"/>
            <a:ext cx="1790700" cy="3979333"/>
          </a:xfrm>
          <a:prstGeom xmlns:a="http://schemas.openxmlformats.org/drawingml/2006/main" prst="rect">
            <a:avLst/>
          </a:prstGeom>
        </p:spPr>
      </p:pic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A59201A-EA1B-45F6-9745-28E2CE3A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C89ECBA-516E-42F2-A085-EA9747DD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SpotBook</a:t>
            </a:r>
          </a:p>
        </p:txBody>
      </p:sp>
      <p:sp>
        <p:nvSpPr>
          <p:cNvPr id="9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1E12B50-14A1-43DF-B9B8-81E30E29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942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Основные экраны приложения</a:t>
            </a:r>
          </a:p>
        </p:txBody>
      </p:sp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0DB807B-C0FB-4079-A081-33F0B1A6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2395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CF7C4F7-CC00-430D-9727-C259C6B4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23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3647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1286091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9B7291A-6611-42A5-9643-2B0AE2AC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0E7C8F4-9C4D-49B2-992F-C1A31674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A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9843BCE-C6B2-45FE-B7C7-EA54F843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SpotBook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3F75373-7084-401E-9E77-B77C1698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942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Заключение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90FA046-8863-4AD0-883F-8A10A916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2395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ED0EEAE-633F-4B06-8BDC-3797286C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523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36477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2E61242-2178-48BF-8D78-EE2F9A7D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50482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2F475B-DB6F-4CC5-BBE1-11D9E76A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571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554A670-B487-465D-A6DA-1167C00E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47825"/>
            <a:ext cx="466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Итоги работы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3E87C5E-FD47-46D7-B132-C5B40B5D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28825"/>
            <a:ext cx="464820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Разработано клиент-серверное Android-приложение SpotBook. Реализованы авторизация, карточки мест, группы, локальное хранение в Room, Ktor REST API, SQLite, загрузка фотографий и ручная синхронизация.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6C5D56B-E90E-48FB-B48C-C5A4E39B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5048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342BA82-0BB0-4147-A401-16FB9490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6A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B9331B7-3FCF-4D4C-917B-7B929DAD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466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33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31"/>
                </a:solidFill>
                <a:latin typeface="Aptos"/>
                <a:ea typeface="Aptos"/>
                <a:cs typeface="Aptos"/>
              </a:rPr>
              <a:t>Планы развития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62A9649-25F9-4FD7-8514-B69DDD8C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648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• добавление нескольких фото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• хранение полных фото на сервере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3647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477"/>
                </a:solidFill>
                <a:latin typeface="Aptos"/>
                <a:ea typeface="Aptos"/>
                <a:cs typeface="Aptos"/>
              </a:rPr>
              <a:t>• обмен карточками и группами карточек с другими пользователями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870AEB8-D134-4833-BBF7-FD4D8184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7"/>
          </a:solidFill>
          <a:ln xmlns:a="http://schemas.openxmlformats.org/drawingml/2006/main" w="13335">
            <a:solidFill>
              <a:srgbClr val="8AA0AC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1FE9272-0566-4307-BCE4-294CD2A8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244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Backend-репозиторий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09E02C6-32B3-4A35-BD92-8DB89961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7"/>
          </a:solidFill>
          <a:ln xmlns:a="http://schemas.openxmlformats.org/drawingml/2006/main" w="13335">
            <a:solidFill>
              <a:srgbClr val="8AA0AC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9E8DCAED-D7EE-49BE-86D0-25B0C804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1244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Android-клиент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75C469A-3DF5-454F-BE9C-FF4EB519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76375"/>
            <a:ext cx="50482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7"/>
          </a:solidFill>
          <a:ln xmlns:a="http://schemas.openxmlformats.org/drawingml/2006/main" w="13335">
            <a:solidFill>
              <a:srgbClr val="8AA0AC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1BA24266-03D9-44A9-98FF-B8748F44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43125"/>
            <a:ext cx="2190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Видео с демонстрацией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04A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4A5B"/>
                </a:solidFill>
                <a:latin typeface="Aptos"/>
                <a:ea typeface="Aptos"/>
                <a:cs typeface="Aptos"/>
              </a:rPr>
              <a:t>работы приложения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4f922e2492457c"/>
          <a:stretch xmlns:a="http://schemas.openxmlformats.org/drawingml/2006/main"/>
        </p:blipFill>
        <p:spPr>
          <a:xfrm xmlns:a="http://schemas.openxmlformats.org/drawingml/2006/main">
            <a:off x="6400800" y="1600200"/>
            <a:ext cx="2000250" cy="2000250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e4f1c30ca4108"/>
          <a:stretch xmlns:a="http://schemas.openxmlformats.org/drawingml/2006/main"/>
        </p:blipFill>
        <p:spPr>
          <a:xfrm xmlns:a="http://schemas.openxmlformats.org/drawingml/2006/main">
            <a:off x="6905625" y="4210050"/>
            <a:ext cx="876300" cy="876300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3f35af74a4b39"/>
          <a:stretch xmlns:a="http://schemas.openxmlformats.org/drawingml/2006/main"/>
        </p:blipFill>
        <p:spPr>
          <a:xfrm xmlns:a="http://schemas.openxmlformats.org/drawingml/2006/main">
            <a:off x="9572625" y="4210050"/>
            <a:ext cx="876300" cy="876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07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2026-06-07T17:33:26.4640000Z</dcterms:created>
  <dcterms:modified xsi:type="dcterms:W3CDTF">2026-06-07T17:33:26.4640000Z</dcterms:modified>
</coreProperties>
</file>