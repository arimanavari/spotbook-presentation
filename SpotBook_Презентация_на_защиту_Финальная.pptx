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0F9A7FA-B09B-48D0-B703-03C8AA60C0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86B1B4-F399-47DE-8B92-DA01273EA0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14337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8C3E0F-A55D-45FE-8B61-890CA264CF77}"/>
              </a:ext>
            </a:extLst>
          </p:cNvPr>
          <p:cNvSpPr>
            <a:spLocks noGrp="1"/>
          </p:cNvSpPr>
          <p:nvPr/>
        </p:nvSpPr>
        <p:spPr>
          <a:xfrm>
            <a:off x="523875" y="742950"/>
            <a:ext cx="685800" cy="76200"/>
          </a:xfrm>
          <a:prstGeom prst="rect">
            <a:avLst/>
          </a:prstGeom>
          <a:solidFill>
            <a:srgbClr val="A8DAD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C90EF6-D0EB-4449-B007-17D48478B0ED}"/>
              </a:ext>
            </a:extLst>
          </p:cNvPr>
          <p:cNvSpPr>
            <a:spLocks noGrp="1"/>
          </p:cNvSpPr>
          <p:nvPr/>
        </p:nvSpPr>
        <p:spPr>
          <a:xfrm>
            <a:off x="523875" y="1000125"/>
            <a:ext cx="28575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6D4772-43CF-47F1-8378-60A5061C03F9}"/>
              </a:ext>
            </a:extLst>
          </p:cNvPr>
          <p:cNvSpPr>
            <a:spLocks noGrp="1"/>
          </p:cNvSpPr>
          <p:nvPr/>
        </p:nvSpPr>
        <p:spPr>
          <a:xfrm>
            <a:off x="523875" y="1466850"/>
            <a:ext cx="285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650" b="0">
                <a:solidFill>
                  <a:srgbClr val="DCEEF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CEEF2"/>
                </a:solidFill>
                <a:latin typeface="Aptos"/>
                <a:ea typeface="Aptos"/>
                <a:cs typeface="Aptos"/>
              </a:rPr>
              <a:t>Личный путеводитель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D020AF-3AA4-4E9B-A00C-D7E18D4E1151}"/>
              </a:ext>
            </a:extLst>
          </p:cNvPr>
          <p:cNvSpPr>
            <a:spLocks noGrp="1"/>
          </p:cNvSpPr>
          <p:nvPr/>
        </p:nvSpPr>
        <p:spPr>
          <a:xfrm>
            <a:off x="4648200" y="1123950"/>
            <a:ext cx="6572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8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Клиент-серверное мобильное приложение «Личный путеводитель»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4A96BC-C397-47DE-ADCA-3EBFC076D8F6}"/>
              </a:ext>
            </a:extLst>
          </p:cNvPr>
          <p:cNvSpPr>
            <a:spLocks noGrp="1"/>
          </p:cNvSpPr>
          <p:nvPr/>
        </p:nvSpPr>
        <p:spPr>
          <a:xfrm>
            <a:off x="4686300" y="3810000"/>
            <a:ext cx="57912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8F9641-E703-4491-8638-F394D5DB9C18}"/>
              </a:ext>
            </a:extLst>
          </p:cNvPr>
          <p:cNvSpPr>
            <a:spLocks noGrp="1"/>
          </p:cNvSpPr>
          <p:nvPr/>
        </p:nvSpPr>
        <p:spPr>
          <a:xfrm>
            <a:off x="4953000" y="4038600"/>
            <a:ext cx="5334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0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Выполнил: Бондаренко И.В.</a:t>
            </a:r>
          </a:p>
          <a:p>
            <a:pPr algn="l">
              <a:buNone/>
              <a:defRPr sz="1425" b="0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Тема: разработка клиент-серверного мобильного приложения SpotBook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BC2CDA-81E3-4A09-8093-C95790BA537E}"/>
              </a:ext>
            </a:extLst>
          </p:cNvPr>
          <p:cNvSpPr>
            <a:spLocks noGrp="1"/>
          </p:cNvSpPr>
          <p:nvPr/>
        </p:nvSpPr>
        <p:spPr>
          <a:xfrm>
            <a:off x="4686300" y="58293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7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Курсовая работа · 2026</a:t>
            </a:r>
          </a:p>
        </p:txBody>
      </p:sp>
    </p:spTree>
    <p:extLst>
      <p:ext uri="{BB962C8B-B14F-4D97-AF65-F5344CB8AC3E}">
        <p14:creationId xmlns:p14="http://schemas.microsoft.com/office/powerpoint/2010/main" val="567302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869CE2A-B014-4849-8557-AEF39F6E2B3B}"/>
              </a:ext>
            </a:extLst>
          </p:cNvPr>
          <p:cNvSpPr>
            <a:spLocks noGrp="1"/>
          </p:cNvSpPr>
          <p:nvPr/>
        </p:nvSpPr>
        <p:spPr>
          <a:xfrm>
            <a:off x="0" y="19664"/>
            <a:ext cx="12192000" cy="6858000"/>
          </a:xfrm>
          <a:prstGeom prst="rect">
            <a:avLst/>
          </a:prstGeom>
          <a:solidFill>
            <a:srgbClr val="F7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1BF07F-5BFB-412F-BAD7-35122EF122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382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F9C736-514B-4A04-B6BE-682FC88B9222}"/>
              </a:ext>
            </a:extLst>
          </p:cNvPr>
          <p:cNvSpPr>
            <a:spLocks noGrp="1"/>
          </p:cNvSpPr>
          <p:nvPr/>
        </p:nvSpPr>
        <p:spPr>
          <a:xfrm>
            <a:off x="400050" y="23812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733D-1C3E-4231-B8E1-AD534D18636D}"/>
              </a:ext>
            </a:extLst>
          </p:cNvPr>
          <p:cNvSpPr>
            <a:spLocks noGrp="1"/>
          </p:cNvSpPr>
          <p:nvPr/>
        </p:nvSpPr>
        <p:spPr>
          <a:xfrm>
            <a:off x="400050" y="533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5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Введение и актуальность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4C8156-591B-462A-9AB7-25F652753494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1239500" cy="13335"/>
          </a:xfrm>
          <a:prstGeom prst="rect">
            <a:avLst/>
          </a:prstGeom>
          <a:solidFill>
            <a:srgbClr val="CAD6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564A89-E98B-4A34-A192-29D73DB8B567}"/>
              </a:ext>
            </a:extLst>
          </p:cNvPr>
          <p:cNvSpPr>
            <a:spLocks noGrp="1"/>
          </p:cNvSpPr>
          <p:nvPr/>
        </p:nvSpPr>
        <p:spPr>
          <a:xfrm>
            <a:off x="11049000" y="304800"/>
            <a:ext cx="5238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350" b="1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3647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3AAFAA-5F24-46A6-8D0E-513D84984A88}"/>
              </a:ext>
            </a:extLst>
          </p:cNvPr>
          <p:cNvSpPr>
            <a:spLocks noGrp="1"/>
          </p:cNvSpPr>
          <p:nvPr/>
        </p:nvSpPr>
        <p:spPr>
          <a:xfrm>
            <a:off x="523875" y="1381125"/>
            <a:ext cx="10572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263746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Во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время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поездок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и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прогулок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пользователь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часто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сохраняет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места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в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разных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источниках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: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заметках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галерее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картах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и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мессенджерах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.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Из-за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этого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сложно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быстро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найти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адрес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фото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личный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комментарий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и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понять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было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место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уже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посещено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или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только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263746"/>
                </a:solidFill>
                <a:latin typeface="Aptos"/>
                <a:ea typeface="Aptos"/>
                <a:cs typeface="Aptos"/>
              </a:rPr>
              <a:t>запланировано</a:t>
            </a:r>
            <a:r>
              <a:rPr sz="1500" b="0" dirty="0">
                <a:solidFill>
                  <a:srgbClr val="263746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8F54D8-FB6D-4475-A584-DBF4DB7C58CA}"/>
              </a:ext>
            </a:extLst>
          </p:cNvPr>
          <p:cNvSpPr>
            <a:spLocks noGrp="1"/>
          </p:cNvSpPr>
          <p:nvPr/>
        </p:nvSpPr>
        <p:spPr>
          <a:xfrm>
            <a:off x="523875" y="2476500"/>
            <a:ext cx="3381375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E8FE5E-EC78-4AF3-82C0-1578521F9FE2}"/>
              </a:ext>
            </a:extLst>
          </p:cNvPr>
          <p:cNvSpPr>
            <a:spLocks noGrp="1"/>
          </p:cNvSpPr>
          <p:nvPr/>
        </p:nvSpPr>
        <p:spPr>
          <a:xfrm>
            <a:off x="523875" y="2476500"/>
            <a:ext cx="57150" cy="1619250"/>
          </a:xfrm>
          <a:prstGeom prst="rect">
            <a:avLst/>
          </a:prstGeom>
          <a:solidFill>
            <a:srgbClr val="A5474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D3EC17-CEE6-4EF2-BB54-B5E2EA5B6793}"/>
              </a:ext>
            </a:extLst>
          </p:cNvPr>
          <p:cNvSpPr>
            <a:spLocks noGrp="1"/>
          </p:cNvSpPr>
          <p:nvPr/>
        </p:nvSpPr>
        <p:spPr>
          <a:xfrm>
            <a:off x="733425" y="2647950"/>
            <a:ext cx="30003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Разрозненность данных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CC2FDF-6E0F-4863-BAD2-AEB75DDAB5E9}"/>
              </a:ext>
            </a:extLst>
          </p:cNvPr>
          <p:cNvSpPr>
            <a:spLocks noGrp="1"/>
          </p:cNvSpPr>
          <p:nvPr/>
        </p:nvSpPr>
        <p:spPr>
          <a:xfrm>
            <a:off x="733425" y="3028950"/>
            <a:ext cx="2981325" cy="933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Фотографии, адреса и заметки обычно лежат отдельно, поэтому личная коллекция мест быстро становится неудобной.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CCD6A4-FD70-4F79-8240-1900B87D1E3F}"/>
              </a:ext>
            </a:extLst>
          </p:cNvPr>
          <p:cNvSpPr>
            <a:spLocks noGrp="1"/>
          </p:cNvSpPr>
          <p:nvPr/>
        </p:nvSpPr>
        <p:spPr>
          <a:xfrm>
            <a:off x="4400550" y="2476500"/>
            <a:ext cx="3381375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9CC25B-077B-4C8D-B777-29499E8D34B9}"/>
              </a:ext>
            </a:extLst>
          </p:cNvPr>
          <p:cNvSpPr>
            <a:spLocks noGrp="1"/>
          </p:cNvSpPr>
          <p:nvPr/>
        </p:nvSpPr>
        <p:spPr>
          <a:xfrm>
            <a:off x="4400550" y="2476500"/>
            <a:ext cx="57150" cy="1619250"/>
          </a:xfrm>
          <a:prstGeom prst="rect">
            <a:avLst/>
          </a:prstGeom>
          <a:solidFill>
            <a:srgbClr val="2F6F8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C4DC29-A8DE-4D24-9217-945C05FFD627}"/>
              </a:ext>
            </a:extLst>
          </p:cNvPr>
          <p:cNvSpPr>
            <a:spLocks noGrp="1"/>
          </p:cNvSpPr>
          <p:nvPr/>
        </p:nvSpPr>
        <p:spPr>
          <a:xfrm>
            <a:off x="4610100" y="2647950"/>
            <a:ext cx="30003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Нужен быстрый локальный доступ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BCE796-CF07-418A-A48F-08EBADDE75FA}"/>
              </a:ext>
            </a:extLst>
          </p:cNvPr>
          <p:cNvSpPr>
            <a:spLocks noGrp="1"/>
          </p:cNvSpPr>
          <p:nvPr/>
        </p:nvSpPr>
        <p:spPr>
          <a:xfrm>
            <a:off x="4610100" y="3028950"/>
            <a:ext cx="2981325" cy="933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Карточки должны открываться на устройстве без постоянной загрузки данных с сервера.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FA6921-4859-4069-AE61-37291F59FCF4}"/>
              </a:ext>
            </a:extLst>
          </p:cNvPr>
          <p:cNvSpPr>
            <a:spLocks noGrp="1"/>
          </p:cNvSpPr>
          <p:nvPr/>
        </p:nvSpPr>
        <p:spPr>
          <a:xfrm>
            <a:off x="8277225" y="2476500"/>
            <a:ext cx="3381375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69322F-3428-47CB-92EB-4363AFA9D878}"/>
              </a:ext>
            </a:extLst>
          </p:cNvPr>
          <p:cNvSpPr>
            <a:spLocks noGrp="1"/>
          </p:cNvSpPr>
          <p:nvPr/>
        </p:nvSpPr>
        <p:spPr>
          <a:xfrm>
            <a:off x="8277225" y="2476500"/>
            <a:ext cx="57150" cy="1619250"/>
          </a:xfrm>
          <a:prstGeom prst="rect">
            <a:avLst/>
          </a:prstGeom>
          <a:solidFill>
            <a:srgbClr val="2B7A6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733D76-5C79-4AE5-AA8E-025E2D358025}"/>
              </a:ext>
            </a:extLst>
          </p:cNvPr>
          <p:cNvSpPr>
            <a:spLocks noGrp="1"/>
          </p:cNvSpPr>
          <p:nvPr/>
        </p:nvSpPr>
        <p:spPr>
          <a:xfrm>
            <a:off x="8486775" y="2647950"/>
            <a:ext cx="30003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Нужна простота использования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15E39E-CC2A-4F42-B21A-733094A3FA41}"/>
              </a:ext>
            </a:extLst>
          </p:cNvPr>
          <p:cNvSpPr>
            <a:spLocks noGrp="1"/>
          </p:cNvSpPr>
          <p:nvPr/>
        </p:nvSpPr>
        <p:spPr>
          <a:xfrm>
            <a:off x="8486775" y="3028950"/>
            <a:ext cx="2981325" cy="933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Карточка создаётся за несколько шагов: название, адрес, статус, оценка, комментарий и фотография.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A4325C-C878-4F4D-99C8-119442FD3916}"/>
              </a:ext>
            </a:extLst>
          </p:cNvPr>
          <p:cNvSpPr>
            <a:spLocks noGrp="1"/>
          </p:cNvSpPr>
          <p:nvPr/>
        </p:nvSpPr>
        <p:spPr>
          <a:xfrm>
            <a:off x="523875" y="4572000"/>
            <a:ext cx="11125200" cy="1000125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C1EDDB-00B4-4C40-BD96-BA2ADE7DD084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105727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650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Решение: клиент-серверное приложение SpotBook, где личные карточки мест хранятся локально в Room, а при необходимости синхронизируются с backend-сервером на Ktor.</a:t>
            </a:r>
          </a:p>
        </p:txBody>
      </p:sp>
    </p:spTree>
    <p:extLst>
      <p:ext uri="{BB962C8B-B14F-4D97-AF65-F5344CB8AC3E}">
        <p14:creationId xmlns:p14="http://schemas.microsoft.com/office/powerpoint/2010/main" val="97110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2F93F822-8BDE-4402-A295-4D634617D3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508E8C-A32D-485C-A1EE-F149BD7810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382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E40E69-EC40-440B-B624-BE37A9F2BF26}"/>
              </a:ext>
            </a:extLst>
          </p:cNvPr>
          <p:cNvSpPr>
            <a:spLocks noGrp="1"/>
          </p:cNvSpPr>
          <p:nvPr/>
        </p:nvSpPr>
        <p:spPr>
          <a:xfrm>
            <a:off x="400050" y="23812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4AF37D-C906-4089-8A10-F46CB8A1A796}"/>
              </a:ext>
            </a:extLst>
          </p:cNvPr>
          <p:cNvSpPr>
            <a:spLocks noGrp="1"/>
          </p:cNvSpPr>
          <p:nvPr/>
        </p:nvSpPr>
        <p:spPr>
          <a:xfrm>
            <a:off x="400050" y="533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5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Цель и задачи проекта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8C1D97-4ED6-466B-A2D3-684EE52E1377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1239500" cy="13335"/>
          </a:xfrm>
          <a:prstGeom prst="rect">
            <a:avLst/>
          </a:prstGeom>
          <a:solidFill>
            <a:srgbClr val="CAD6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453C0C-88B8-423F-A3C6-1F385141D0D0}"/>
              </a:ext>
            </a:extLst>
          </p:cNvPr>
          <p:cNvSpPr>
            <a:spLocks noGrp="1"/>
          </p:cNvSpPr>
          <p:nvPr/>
        </p:nvSpPr>
        <p:spPr>
          <a:xfrm>
            <a:off x="11049000" y="304800"/>
            <a:ext cx="5238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350" b="1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3647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0CC33-AA47-491D-9288-723D4A44938C}"/>
              </a:ext>
            </a:extLst>
          </p:cNvPr>
          <p:cNvSpPr>
            <a:spLocks noGrp="1"/>
          </p:cNvSpPr>
          <p:nvPr/>
        </p:nvSpPr>
        <p:spPr>
          <a:xfrm>
            <a:off x="523875" y="1381125"/>
            <a:ext cx="111252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28EB97-DEDE-4F9D-A5C1-4D0058BF5E78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10572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7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Цель: разработать клиент-серверное мобильное приложение для хранения личной коллекции мест, их группировки, просмотра фотографий и ручной синхронизации между Android-клиентом и сервером.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09670-C4F7-486E-AED8-4BFC64395F9B}"/>
              </a:ext>
            </a:extLst>
          </p:cNvPr>
          <p:cNvSpPr>
            <a:spLocks noGrp="1"/>
          </p:cNvSpPr>
          <p:nvPr/>
        </p:nvSpPr>
        <p:spPr>
          <a:xfrm>
            <a:off x="523875" y="2571750"/>
            <a:ext cx="3476625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FD79B5-3C6B-4748-A0CE-D872BEC4EB59}"/>
              </a:ext>
            </a:extLst>
          </p:cNvPr>
          <p:cNvSpPr>
            <a:spLocks noGrp="1"/>
          </p:cNvSpPr>
          <p:nvPr/>
        </p:nvSpPr>
        <p:spPr>
          <a:xfrm>
            <a:off x="714375" y="2743200"/>
            <a:ext cx="323850" cy="323850"/>
          </a:xfrm>
          <a:prstGeom prst="rect">
            <a:avLst/>
          </a:prstGeom>
          <a:solidFill>
            <a:srgbClr val="2F6F87"/>
          </a:solidFill>
          <a:ln w="9525">
            <a:solidFill>
              <a:srgbClr val="2F6F8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4D501C-82D6-49D8-BFCF-F68664BB4A28}"/>
              </a:ext>
            </a:extLst>
          </p:cNvPr>
          <p:cNvSpPr>
            <a:spLocks noGrp="1"/>
          </p:cNvSpPr>
          <p:nvPr/>
        </p:nvSpPr>
        <p:spPr>
          <a:xfrm>
            <a:off x="714375" y="2790825"/>
            <a:ext cx="323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37FA34-92D8-4244-BFFE-96CBACA120F8}"/>
              </a:ext>
            </a:extLst>
          </p:cNvPr>
          <p:cNvSpPr>
            <a:spLocks noGrp="1"/>
          </p:cNvSpPr>
          <p:nvPr/>
        </p:nvSpPr>
        <p:spPr>
          <a:xfrm>
            <a:off x="1171575" y="2724150"/>
            <a:ext cx="263842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7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Проектирование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E6B6B6-87C9-4CC1-9EC7-14A01C10375F}"/>
              </a:ext>
            </a:extLst>
          </p:cNvPr>
          <p:cNvSpPr>
            <a:spLocks noGrp="1"/>
          </p:cNvSpPr>
          <p:nvPr/>
        </p:nvSpPr>
        <p:spPr>
          <a:xfrm>
            <a:off x="1171575" y="3048000"/>
            <a:ext cx="2638425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90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описать требования, сценарии использования, архитектуру и модель данных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598A5E-1CD2-43DC-99F6-CDE4E7DCBC39}"/>
              </a:ext>
            </a:extLst>
          </p:cNvPr>
          <p:cNvSpPr>
            <a:spLocks noGrp="1"/>
          </p:cNvSpPr>
          <p:nvPr/>
        </p:nvSpPr>
        <p:spPr>
          <a:xfrm>
            <a:off x="4352925" y="2571750"/>
            <a:ext cx="3476625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C92BC5C-E6CE-412E-9AA9-84D3EDFBB944}"/>
              </a:ext>
            </a:extLst>
          </p:cNvPr>
          <p:cNvSpPr>
            <a:spLocks noGrp="1"/>
          </p:cNvSpPr>
          <p:nvPr/>
        </p:nvSpPr>
        <p:spPr>
          <a:xfrm>
            <a:off x="4543425" y="2743200"/>
            <a:ext cx="323850" cy="323850"/>
          </a:xfrm>
          <a:prstGeom prst="rect">
            <a:avLst/>
          </a:prstGeom>
          <a:solidFill>
            <a:srgbClr val="2F6F87"/>
          </a:solidFill>
          <a:ln w="9525">
            <a:solidFill>
              <a:srgbClr val="2F6F8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BD5869-B264-428F-B6E4-AC26D15B30E1}"/>
              </a:ext>
            </a:extLst>
          </p:cNvPr>
          <p:cNvSpPr>
            <a:spLocks noGrp="1"/>
          </p:cNvSpPr>
          <p:nvPr/>
        </p:nvSpPr>
        <p:spPr>
          <a:xfrm>
            <a:off x="4543425" y="2790825"/>
            <a:ext cx="323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1F7DFE-4B82-4697-A873-EBD86D8EFDE7}"/>
              </a:ext>
            </a:extLst>
          </p:cNvPr>
          <p:cNvSpPr>
            <a:spLocks noGrp="1"/>
          </p:cNvSpPr>
          <p:nvPr/>
        </p:nvSpPr>
        <p:spPr>
          <a:xfrm>
            <a:off x="5000625" y="2724150"/>
            <a:ext cx="263842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7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FC4492-94B0-4FB5-9559-EF35EC1CBA0E}"/>
              </a:ext>
            </a:extLst>
          </p:cNvPr>
          <p:cNvSpPr>
            <a:spLocks noGrp="1"/>
          </p:cNvSpPr>
          <p:nvPr/>
        </p:nvSpPr>
        <p:spPr>
          <a:xfrm>
            <a:off x="5000625" y="3048000"/>
            <a:ext cx="2638425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90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создать Ktor REST API, JWT-авторизацию, SQLite и хранение фотографий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58BEDC-14FA-4A60-9A7C-A584135E312A}"/>
              </a:ext>
            </a:extLst>
          </p:cNvPr>
          <p:cNvSpPr>
            <a:spLocks noGrp="1"/>
          </p:cNvSpPr>
          <p:nvPr/>
        </p:nvSpPr>
        <p:spPr>
          <a:xfrm>
            <a:off x="8181975" y="2571750"/>
            <a:ext cx="3476625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457CBF-24B0-4B4A-A9AD-AE9D275AE922}"/>
              </a:ext>
            </a:extLst>
          </p:cNvPr>
          <p:cNvSpPr>
            <a:spLocks noGrp="1"/>
          </p:cNvSpPr>
          <p:nvPr/>
        </p:nvSpPr>
        <p:spPr>
          <a:xfrm>
            <a:off x="8372475" y="2743200"/>
            <a:ext cx="323850" cy="323850"/>
          </a:xfrm>
          <a:prstGeom prst="rect">
            <a:avLst/>
          </a:prstGeom>
          <a:solidFill>
            <a:srgbClr val="2F6F87"/>
          </a:solidFill>
          <a:ln w="9525">
            <a:solidFill>
              <a:srgbClr val="2F6F8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412D87-5BA4-4BDF-B566-448BB23827ED}"/>
              </a:ext>
            </a:extLst>
          </p:cNvPr>
          <p:cNvSpPr>
            <a:spLocks noGrp="1"/>
          </p:cNvSpPr>
          <p:nvPr/>
        </p:nvSpPr>
        <p:spPr>
          <a:xfrm>
            <a:off x="8372475" y="2790825"/>
            <a:ext cx="323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C0F3BF-3ADF-49DA-B7CB-508017CDE88B}"/>
              </a:ext>
            </a:extLst>
          </p:cNvPr>
          <p:cNvSpPr>
            <a:spLocks noGrp="1"/>
          </p:cNvSpPr>
          <p:nvPr/>
        </p:nvSpPr>
        <p:spPr>
          <a:xfrm>
            <a:off x="8829675" y="2724150"/>
            <a:ext cx="263842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7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Android-клиент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979D29B-BB03-4A6B-9D19-C4FC35EACE89}"/>
              </a:ext>
            </a:extLst>
          </p:cNvPr>
          <p:cNvSpPr>
            <a:spLocks noGrp="1"/>
          </p:cNvSpPr>
          <p:nvPr/>
        </p:nvSpPr>
        <p:spPr>
          <a:xfrm>
            <a:off x="8829675" y="3048000"/>
            <a:ext cx="2638425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90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реализовать Compose-экраны, навигацию, ViewModel и Room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B336732-6E4B-4628-B299-6CA1AD4BFD8B}"/>
              </a:ext>
            </a:extLst>
          </p:cNvPr>
          <p:cNvSpPr>
            <a:spLocks noGrp="1"/>
          </p:cNvSpPr>
          <p:nvPr/>
        </p:nvSpPr>
        <p:spPr>
          <a:xfrm>
            <a:off x="2428875" y="4191000"/>
            <a:ext cx="3476625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DD48A3-5F1E-489B-8D56-CCD90208FC5F}"/>
              </a:ext>
            </a:extLst>
          </p:cNvPr>
          <p:cNvSpPr>
            <a:spLocks noGrp="1"/>
          </p:cNvSpPr>
          <p:nvPr/>
        </p:nvSpPr>
        <p:spPr>
          <a:xfrm>
            <a:off x="2619375" y="4362450"/>
            <a:ext cx="323850" cy="323850"/>
          </a:xfrm>
          <a:prstGeom prst="rect">
            <a:avLst/>
          </a:prstGeom>
          <a:solidFill>
            <a:srgbClr val="2F6F87"/>
          </a:solidFill>
          <a:ln w="9525">
            <a:solidFill>
              <a:srgbClr val="2F6F8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3D1542-2D85-4822-90E9-D2F31CA9A44E}"/>
              </a:ext>
            </a:extLst>
          </p:cNvPr>
          <p:cNvSpPr>
            <a:spLocks noGrp="1"/>
          </p:cNvSpPr>
          <p:nvPr/>
        </p:nvSpPr>
        <p:spPr>
          <a:xfrm>
            <a:off x="2619375" y="4410075"/>
            <a:ext cx="323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F6AABD7-FF65-42F3-8F07-162D8C0EA714}"/>
              </a:ext>
            </a:extLst>
          </p:cNvPr>
          <p:cNvSpPr>
            <a:spLocks noGrp="1"/>
          </p:cNvSpPr>
          <p:nvPr/>
        </p:nvSpPr>
        <p:spPr>
          <a:xfrm>
            <a:off x="3076575" y="4343400"/>
            <a:ext cx="263842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7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Синхронизация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F3F6AE0-C432-463C-9BDF-0C0CE1201CEB}"/>
              </a:ext>
            </a:extLst>
          </p:cNvPr>
          <p:cNvSpPr>
            <a:spLocks noGrp="1"/>
          </p:cNvSpPr>
          <p:nvPr/>
        </p:nvSpPr>
        <p:spPr>
          <a:xfrm>
            <a:off x="3076575" y="4667250"/>
            <a:ext cx="2638425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90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сделать ручной экспорт и импорт данных с учётом статусов записей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309DA4-3F4E-446B-BD87-F26DBEB1E1F5}"/>
              </a:ext>
            </a:extLst>
          </p:cNvPr>
          <p:cNvSpPr>
            <a:spLocks noGrp="1"/>
          </p:cNvSpPr>
          <p:nvPr/>
        </p:nvSpPr>
        <p:spPr>
          <a:xfrm>
            <a:off x="6286500" y="4191000"/>
            <a:ext cx="3476625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0F674C8-23D5-448E-B7D8-2E9A8893A6A1}"/>
              </a:ext>
            </a:extLst>
          </p:cNvPr>
          <p:cNvSpPr>
            <a:spLocks noGrp="1"/>
          </p:cNvSpPr>
          <p:nvPr/>
        </p:nvSpPr>
        <p:spPr>
          <a:xfrm>
            <a:off x="6477000" y="4362450"/>
            <a:ext cx="323850" cy="323850"/>
          </a:xfrm>
          <a:prstGeom prst="rect">
            <a:avLst/>
          </a:prstGeom>
          <a:solidFill>
            <a:srgbClr val="2F6F87"/>
          </a:solidFill>
          <a:ln w="9525">
            <a:solidFill>
              <a:srgbClr val="2F6F8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D31F0E-E6D9-4CE7-95A6-8167D7AF56AF}"/>
              </a:ext>
            </a:extLst>
          </p:cNvPr>
          <p:cNvSpPr>
            <a:spLocks noGrp="1"/>
          </p:cNvSpPr>
          <p:nvPr/>
        </p:nvSpPr>
        <p:spPr>
          <a:xfrm>
            <a:off x="6477000" y="4410075"/>
            <a:ext cx="323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E488360-BF7C-48F6-B2BE-A47F582CB25A}"/>
              </a:ext>
            </a:extLst>
          </p:cNvPr>
          <p:cNvSpPr>
            <a:spLocks noGrp="1"/>
          </p:cNvSpPr>
          <p:nvPr/>
        </p:nvSpPr>
        <p:spPr>
          <a:xfrm>
            <a:off x="6934200" y="4343400"/>
            <a:ext cx="263842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7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Проверка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14C7AB3-724D-48C5-950E-989191A13F9E}"/>
              </a:ext>
            </a:extLst>
          </p:cNvPr>
          <p:cNvSpPr>
            <a:spLocks noGrp="1"/>
          </p:cNvSpPr>
          <p:nvPr/>
        </p:nvSpPr>
        <p:spPr>
          <a:xfrm>
            <a:off x="6934200" y="4667250"/>
            <a:ext cx="2638425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90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проверить запуск, CRUD, группы, фото, ориентацию и работу с сервером</a:t>
            </a:r>
          </a:p>
        </p:txBody>
      </p:sp>
    </p:spTree>
    <p:extLst>
      <p:ext uri="{BB962C8B-B14F-4D97-AF65-F5344CB8AC3E}">
        <p14:creationId xmlns:p14="http://schemas.microsoft.com/office/powerpoint/2010/main" val="1798366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311AE28C-872C-4523-9C03-DAA9792E31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C10F64-1B53-4F30-992C-EF2ABD9285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382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CC24F7-BD34-4560-97B0-550384BE5D6E}"/>
              </a:ext>
            </a:extLst>
          </p:cNvPr>
          <p:cNvSpPr>
            <a:spLocks noGrp="1"/>
          </p:cNvSpPr>
          <p:nvPr/>
        </p:nvSpPr>
        <p:spPr>
          <a:xfrm>
            <a:off x="400050" y="23812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F9791A-C476-4FA5-B0EC-AF879FEF98A8}"/>
              </a:ext>
            </a:extLst>
          </p:cNvPr>
          <p:cNvSpPr>
            <a:spLocks noGrp="1"/>
          </p:cNvSpPr>
          <p:nvPr/>
        </p:nvSpPr>
        <p:spPr>
          <a:xfrm>
            <a:off x="400050" y="533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5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Сравнение SpotBook с аналогами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83A38A-AB70-4D12-988C-766A17BA1471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1239500" cy="13335"/>
          </a:xfrm>
          <a:prstGeom prst="rect">
            <a:avLst/>
          </a:prstGeom>
          <a:solidFill>
            <a:srgbClr val="CAD6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620CAE-3E6F-4310-B584-24CCD79DCB54}"/>
              </a:ext>
            </a:extLst>
          </p:cNvPr>
          <p:cNvSpPr>
            <a:spLocks noGrp="1"/>
          </p:cNvSpPr>
          <p:nvPr/>
        </p:nvSpPr>
        <p:spPr>
          <a:xfrm>
            <a:off x="11049000" y="304800"/>
            <a:ext cx="5238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350" b="1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36477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B78A48-7E80-411F-B795-D06A3C8A9489}"/>
              </a:ext>
            </a:extLst>
          </p:cNvPr>
          <p:cNvSpPr>
            <a:spLocks noGrp="1"/>
          </p:cNvSpPr>
          <p:nvPr/>
        </p:nvSpPr>
        <p:spPr>
          <a:xfrm>
            <a:off x="400050" y="1409700"/>
            <a:ext cx="1428750" cy="4572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DB6E9EF-B9A9-4F24-8A0A-85769FEA8802}"/>
              </a:ext>
            </a:extLst>
          </p:cNvPr>
          <p:cNvSpPr>
            <a:spLocks noGrp="1"/>
          </p:cNvSpPr>
          <p:nvPr/>
        </p:nvSpPr>
        <p:spPr>
          <a:xfrm>
            <a:off x="419100" y="1438275"/>
            <a:ext cx="1390650" cy="4000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938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Аналог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29F991E-F10E-4256-81C7-28B7F96F5496}"/>
              </a:ext>
            </a:extLst>
          </p:cNvPr>
          <p:cNvSpPr>
            <a:spLocks noGrp="1"/>
          </p:cNvSpPr>
          <p:nvPr/>
        </p:nvSpPr>
        <p:spPr>
          <a:xfrm>
            <a:off x="1828800" y="1409700"/>
            <a:ext cx="2857500" cy="4572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40C4891-B93E-4509-8D80-136121C3669A}"/>
              </a:ext>
            </a:extLst>
          </p:cNvPr>
          <p:cNvSpPr>
            <a:spLocks noGrp="1"/>
          </p:cNvSpPr>
          <p:nvPr/>
        </p:nvSpPr>
        <p:spPr>
          <a:xfrm>
            <a:off x="1847850" y="1438275"/>
            <a:ext cx="2819400" cy="4000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938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Сильные стороны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D3A025C-3658-4B51-9C16-8B84BC4A27E6}"/>
              </a:ext>
            </a:extLst>
          </p:cNvPr>
          <p:cNvSpPr>
            <a:spLocks noGrp="1"/>
          </p:cNvSpPr>
          <p:nvPr/>
        </p:nvSpPr>
        <p:spPr>
          <a:xfrm>
            <a:off x="4686300" y="1409700"/>
            <a:ext cx="3143250" cy="4572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A9D9FB0-E8D6-42EB-97C8-44B901CCA415}"/>
              </a:ext>
            </a:extLst>
          </p:cNvPr>
          <p:cNvSpPr>
            <a:spLocks noGrp="1"/>
          </p:cNvSpPr>
          <p:nvPr/>
        </p:nvSpPr>
        <p:spPr>
          <a:xfrm>
            <a:off x="4705350" y="1438275"/>
            <a:ext cx="3105150" cy="4000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938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Слабые стороны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69A1603-BC42-4FDF-95F3-3887FAB50D29}"/>
              </a:ext>
            </a:extLst>
          </p:cNvPr>
          <p:cNvSpPr>
            <a:spLocks noGrp="1"/>
          </p:cNvSpPr>
          <p:nvPr/>
        </p:nvSpPr>
        <p:spPr>
          <a:xfrm>
            <a:off x="7829550" y="1409700"/>
            <a:ext cx="3810000" cy="4572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9DB83FF-720B-472F-B74B-4CA3D573E8F6}"/>
              </a:ext>
            </a:extLst>
          </p:cNvPr>
          <p:cNvSpPr>
            <a:spLocks noGrp="1"/>
          </p:cNvSpPr>
          <p:nvPr/>
        </p:nvSpPr>
        <p:spPr>
          <a:xfrm>
            <a:off x="7848600" y="1438275"/>
            <a:ext cx="3771900" cy="4000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938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Отличие SpotBook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614E00B-05AE-4004-BB94-90709F38A18E}"/>
              </a:ext>
            </a:extLst>
          </p:cNvPr>
          <p:cNvSpPr>
            <a:spLocks noGrp="1"/>
          </p:cNvSpPr>
          <p:nvPr/>
        </p:nvSpPr>
        <p:spPr>
          <a:xfrm>
            <a:off x="400050" y="1866900"/>
            <a:ext cx="14287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03D833A-9ECD-4F44-9760-7D4C1A8B2B28}"/>
              </a:ext>
            </a:extLst>
          </p:cNvPr>
          <p:cNvSpPr>
            <a:spLocks noGrp="1"/>
          </p:cNvSpPr>
          <p:nvPr/>
        </p:nvSpPr>
        <p:spPr>
          <a:xfrm>
            <a:off x="419100" y="1895475"/>
            <a:ext cx="13906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63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Google Maps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5B180D4-5384-443E-955D-61B4430FD7FD}"/>
              </a:ext>
            </a:extLst>
          </p:cNvPr>
          <p:cNvSpPr>
            <a:spLocks noGrp="1"/>
          </p:cNvSpPr>
          <p:nvPr/>
        </p:nvSpPr>
        <p:spPr>
          <a:xfrm>
            <a:off x="1828800" y="1866900"/>
            <a:ext cx="28575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2ED982F-7A43-41E3-B6E1-842815E8B162}"/>
              </a:ext>
            </a:extLst>
          </p:cNvPr>
          <p:cNvSpPr>
            <a:spLocks noGrp="1"/>
          </p:cNvSpPr>
          <p:nvPr/>
        </p:nvSpPr>
        <p:spPr>
          <a:xfrm>
            <a:off x="1847850" y="1895475"/>
            <a:ext cx="28194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карты, навигация, маршруты, отзывы, большая база мест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8209EFE-525D-4254-919D-33696F7B48C6}"/>
              </a:ext>
            </a:extLst>
          </p:cNvPr>
          <p:cNvSpPr>
            <a:spLocks noGrp="1"/>
          </p:cNvSpPr>
          <p:nvPr/>
        </p:nvSpPr>
        <p:spPr>
          <a:xfrm>
            <a:off x="4686300" y="1866900"/>
            <a:ext cx="31432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032AB5A-14F3-4F29-8C8F-32F7A6DC2CE1}"/>
              </a:ext>
            </a:extLst>
          </p:cNvPr>
          <p:cNvSpPr>
            <a:spLocks noGrp="1"/>
          </p:cNvSpPr>
          <p:nvPr/>
        </p:nvSpPr>
        <p:spPr>
          <a:xfrm>
            <a:off x="4705350" y="1895475"/>
            <a:ext cx="31051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мало настраиваемых полей для личных карточек; зависимость от Google-аккаунта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30D37D3-C79A-4DCD-AFE4-C9CD1CA1AF34}"/>
              </a:ext>
            </a:extLst>
          </p:cNvPr>
          <p:cNvSpPr>
            <a:spLocks noGrp="1"/>
          </p:cNvSpPr>
          <p:nvPr/>
        </p:nvSpPr>
        <p:spPr>
          <a:xfrm>
            <a:off x="7829550" y="1866900"/>
            <a:ext cx="38100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192FADD-A171-40A3-A705-88C95672910E}"/>
              </a:ext>
            </a:extLst>
          </p:cNvPr>
          <p:cNvSpPr>
            <a:spLocks noGrp="1"/>
          </p:cNvSpPr>
          <p:nvPr/>
        </p:nvSpPr>
        <p:spPr>
          <a:xfrm>
            <a:off x="7848600" y="1895475"/>
            <a:ext cx="37719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1">
                <a:solidFill>
                  <a:srgbClr val="174F3B"/>
                </a:solidFill>
                <a:latin typeface="Aptos"/>
                <a:ea typeface="Aptos"/>
                <a:cs typeface="Aptos"/>
              </a:rPr>
              <a:t>SpotBook хранит собственные карточки с фото, оценкой, статусом и группами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F6C7E1E-7DA5-4135-BA99-DFE4B70A57B5}"/>
              </a:ext>
            </a:extLst>
          </p:cNvPr>
          <p:cNvSpPr>
            <a:spLocks noGrp="1"/>
          </p:cNvSpPr>
          <p:nvPr/>
        </p:nvSpPr>
        <p:spPr>
          <a:xfrm>
            <a:off x="400050" y="2667000"/>
            <a:ext cx="14287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127C994-48EA-4325-B462-32F550C1D556}"/>
              </a:ext>
            </a:extLst>
          </p:cNvPr>
          <p:cNvSpPr>
            <a:spLocks noGrp="1"/>
          </p:cNvSpPr>
          <p:nvPr/>
        </p:nvSpPr>
        <p:spPr>
          <a:xfrm>
            <a:off x="419100" y="2695575"/>
            <a:ext cx="13906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63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Notion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7046C4-3451-417E-BA26-BC14ABF3BF8C}"/>
              </a:ext>
            </a:extLst>
          </p:cNvPr>
          <p:cNvSpPr>
            <a:spLocks noGrp="1"/>
          </p:cNvSpPr>
          <p:nvPr/>
        </p:nvSpPr>
        <p:spPr>
          <a:xfrm>
            <a:off x="1828800" y="2667000"/>
            <a:ext cx="28575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E1C950A-5127-4F28-A271-7BC0E3503D39}"/>
              </a:ext>
            </a:extLst>
          </p:cNvPr>
          <p:cNvSpPr>
            <a:spLocks noGrp="1"/>
          </p:cNvSpPr>
          <p:nvPr/>
        </p:nvSpPr>
        <p:spPr>
          <a:xfrm>
            <a:off x="1847850" y="2695575"/>
            <a:ext cx="28194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гибкие базы данных, заметки, вложения, собственные поля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E2329D2-1FCF-44A3-A5FE-EF6EEA9BCC6A}"/>
              </a:ext>
            </a:extLst>
          </p:cNvPr>
          <p:cNvSpPr>
            <a:spLocks noGrp="1"/>
          </p:cNvSpPr>
          <p:nvPr/>
        </p:nvSpPr>
        <p:spPr>
          <a:xfrm>
            <a:off x="4686300" y="2667000"/>
            <a:ext cx="31432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EF2ED80-0A39-426A-A109-F544B9D75CCA}"/>
              </a:ext>
            </a:extLst>
          </p:cNvPr>
          <p:cNvSpPr>
            <a:spLocks noGrp="1"/>
          </p:cNvSpPr>
          <p:nvPr/>
        </p:nvSpPr>
        <p:spPr>
          <a:xfrm>
            <a:off x="4705350" y="2695575"/>
            <a:ext cx="31051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нет готового сценария для мест: статусов посещения, групп и синхронизации с backend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727C7F8-E2F2-4162-A6D5-13982EE2B586}"/>
              </a:ext>
            </a:extLst>
          </p:cNvPr>
          <p:cNvSpPr>
            <a:spLocks noGrp="1"/>
          </p:cNvSpPr>
          <p:nvPr/>
        </p:nvSpPr>
        <p:spPr>
          <a:xfrm>
            <a:off x="7829550" y="2667000"/>
            <a:ext cx="38100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F76771D-10E1-4160-B04E-15EBF8664E5E}"/>
              </a:ext>
            </a:extLst>
          </p:cNvPr>
          <p:cNvSpPr>
            <a:spLocks noGrp="1"/>
          </p:cNvSpPr>
          <p:nvPr/>
        </p:nvSpPr>
        <p:spPr>
          <a:xfrm>
            <a:off x="7848600" y="2695575"/>
            <a:ext cx="37719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1">
                <a:solidFill>
                  <a:srgbClr val="174F3B"/>
                </a:solidFill>
                <a:latin typeface="Aptos"/>
                <a:ea typeface="Aptos"/>
                <a:cs typeface="Aptos"/>
              </a:rPr>
              <a:t>SpotBook сразу ориентирован на личную коллекцию мест и работает с локальной Room-базой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20D6F2A-48F8-47AC-98DB-90B9B4442212}"/>
              </a:ext>
            </a:extLst>
          </p:cNvPr>
          <p:cNvSpPr>
            <a:spLocks noGrp="1"/>
          </p:cNvSpPr>
          <p:nvPr/>
        </p:nvSpPr>
        <p:spPr>
          <a:xfrm>
            <a:off x="400050" y="3467100"/>
            <a:ext cx="14287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8018C54-FD3B-4808-93C1-2C44761CCAC4}"/>
              </a:ext>
            </a:extLst>
          </p:cNvPr>
          <p:cNvSpPr>
            <a:spLocks noGrp="1"/>
          </p:cNvSpPr>
          <p:nvPr/>
        </p:nvSpPr>
        <p:spPr>
          <a:xfrm>
            <a:off x="419100" y="3495675"/>
            <a:ext cx="13906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63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TripAdvisor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085B610-5E1E-4268-A9AE-9CB717BA8A17}"/>
              </a:ext>
            </a:extLst>
          </p:cNvPr>
          <p:cNvSpPr>
            <a:spLocks noGrp="1"/>
          </p:cNvSpPr>
          <p:nvPr/>
        </p:nvSpPr>
        <p:spPr>
          <a:xfrm>
            <a:off x="1828800" y="3467100"/>
            <a:ext cx="28575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F8082FD7-88BC-4B05-B980-703384E7B91D}"/>
              </a:ext>
            </a:extLst>
          </p:cNvPr>
          <p:cNvSpPr>
            <a:spLocks noGrp="1"/>
          </p:cNvSpPr>
          <p:nvPr/>
        </p:nvSpPr>
        <p:spPr>
          <a:xfrm>
            <a:off x="1847850" y="3495675"/>
            <a:ext cx="28194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отзывы, рейтинги, подборки, туристические рекомендации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95C8AC4-977C-4B6B-9016-FC8E3373CC18}"/>
              </a:ext>
            </a:extLst>
          </p:cNvPr>
          <p:cNvSpPr>
            <a:spLocks noGrp="1"/>
          </p:cNvSpPr>
          <p:nvPr/>
        </p:nvSpPr>
        <p:spPr>
          <a:xfrm>
            <a:off x="4686300" y="3467100"/>
            <a:ext cx="31432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A9E859D-96AF-4E0D-BC07-87EFBCED6A56}"/>
              </a:ext>
            </a:extLst>
          </p:cNvPr>
          <p:cNvSpPr>
            <a:spLocks noGrp="1"/>
          </p:cNvSpPr>
          <p:nvPr/>
        </p:nvSpPr>
        <p:spPr>
          <a:xfrm>
            <a:off x="4705350" y="3495675"/>
            <a:ext cx="31051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акцент на публичной информации и рекомендациях, а не на личных заметках пользователя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C16BACB-AB42-439D-875A-161E4C3D2366}"/>
              </a:ext>
            </a:extLst>
          </p:cNvPr>
          <p:cNvSpPr>
            <a:spLocks noGrp="1"/>
          </p:cNvSpPr>
          <p:nvPr/>
        </p:nvSpPr>
        <p:spPr>
          <a:xfrm>
            <a:off x="7829550" y="3467100"/>
            <a:ext cx="38100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9B0EC5D-A8A5-449A-8665-491BB8324241}"/>
              </a:ext>
            </a:extLst>
          </p:cNvPr>
          <p:cNvSpPr>
            <a:spLocks noGrp="1"/>
          </p:cNvSpPr>
          <p:nvPr/>
        </p:nvSpPr>
        <p:spPr>
          <a:xfrm>
            <a:off x="7848600" y="3495675"/>
            <a:ext cx="37719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1">
                <a:solidFill>
                  <a:srgbClr val="174F3B"/>
                </a:solidFill>
                <a:latin typeface="Aptos"/>
                <a:ea typeface="Aptos"/>
                <a:cs typeface="Aptos"/>
              </a:rPr>
              <a:t>SpotBook предназначен для приватного хранения посещённых и запланированных мест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414CD82-3CD4-4940-BD3B-F107980AD385}"/>
              </a:ext>
            </a:extLst>
          </p:cNvPr>
          <p:cNvSpPr>
            <a:spLocks noGrp="1"/>
          </p:cNvSpPr>
          <p:nvPr/>
        </p:nvSpPr>
        <p:spPr>
          <a:xfrm>
            <a:off x="400050" y="4267200"/>
            <a:ext cx="14287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CAAC166-A03E-4BF3-930A-A8478F193038}"/>
              </a:ext>
            </a:extLst>
          </p:cNvPr>
          <p:cNvSpPr>
            <a:spLocks noGrp="1"/>
          </p:cNvSpPr>
          <p:nvPr/>
        </p:nvSpPr>
        <p:spPr>
          <a:xfrm>
            <a:off x="419100" y="4295775"/>
            <a:ext cx="13906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63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Mapstr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4906B7D-0D4F-4115-89F9-BC3F61A1C3C7}"/>
              </a:ext>
            </a:extLst>
          </p:cNvPr>
          <p:cNvSpPr>
            <a:spLocks noGrp="1"/>
          </p:cNvSpPr>
          <p:nvPr/>
        </p:nvSpPr>
        <p:spPr>
          <a:xfrm>
            <a:off x="1828800" y="4267200"/>
            <a:ext cx="28575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B5478F-9FBF-433B-A65A-7620AD9F5CFC}"/>
              </a:ext>
            </a:extLst>
          </p:cNvPr>
          <p:cNvSpPr>
            <a:spLocks noGrp="1"/>
          </p:cNvSpPr>
          <p:nvPr/>
        </p:nvSpPr>
        <p:spPr>
          <a:xfrm>
            <a:off x="1847850" y="4295775"/>
            <a:ext cx="28194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личная карта, теги, комментарии, сохранение мест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156154D-4AFB-4D77-80A4-BD7895AFB886}"/>
              </a:ext>
            </a:extLst>
          </p:cNvPr>
          <p:cNvSpPr>
            <a:spLocks noGrp="1"/>
          </p:cNvSpPr>
          <p:nvPr/>
        </p:nvSpPr>
        <p:spPr>
          <a:xfrm>
            <a:off x="4686300" y="4267200"/>
            <a:ext cx="31432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BD3F276-D9D6-4E1F-B622-AEBD420B639A}"/>
              </a:ext>
            </a:extLst>
          </p:cNvPr>
          <p:cNvSpPr>
            <a:spLocks noGrp="1"/>
          </p:cNvSpPr>
          <p:nvPr/>
        </p:nvSpPr>
        <p:spPr>
          <a:xfrm>
            <a:off x="4705350" y="4295775"/>
            <a:ext cx="31051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логика хранения и синхронизации скрыта внутри сервиса; меньше контроля над обменом данными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CA9B368-5E82-4225-8A56-F1330DF966EE}"/>
              </a:ext>
            </a:extLst>
          </p:cNvPr>
          <p:cNvSpPr>
            <a:spLocks noGrp="1"/>
          </p:cNvSpPr>
          <p:nvPr/>
        </p:nvSpPr>
        <p:spPr>
          <a:xfrm>
            <a:off x="7829550" y="4267200"/>
            <a:ext cx="38100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7027257-6F4A-4373-8405-2CA6BE37578B}"/>
              </a:ext>
            </a:extLst>
          </p:cNvPr>
          <p:cNvSpPr>
            <a:spLocks noGrp="1"/>
          </p:cNvSpPr>
          <p:nvPr/>
        </p:nvSpPr>
        <p:spPr>
          <a:xfrm>
            <a:off x="7848600" y="4295775"/>
            <a:ext cx="37719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1">
                <a:solidFill>
                  <a:srgbClr val="174F3B"/>
                </a:solidFill>
                <a:latin typeface="Aptos"/>
                <a:ea typeface="Aptos"/>
                <a:cs typeface="Aptos"/>
              </a:rPr>
              <a:t>SpotBook даёт ручной экспорт и импорт между телефоном и собственным Ktor-сервером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6EACBA8-6454-4163-8921-E5E52CB244A1}"/>
              </a:ext>
            </a:extLst>
          </p:cNvPr>
          <p:cNvSpPr>
            <a:spLocks noGrp="1"/>
          </p:cNvSpPr>
          <p:nvPr/>
        </p:nvSpPr>
        <p:spPr>
          <a:xfrm>
            <a:off x="400050" y="5067300"/>
            <a:ext cx="14287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4BBA95F-C232-44A6-9627-D6698BE9961A}"/>
              </a:ext>
            </a:extLst>
          </p:cNvPr>
          <p:cNvSpPr>
            <a:spLocks noGrp="1"/>
          </p:cNvSpPr>
          <p:nvPr/>
        </p:nvSpPr>
        <p:spPr>
          <a:xfrm>
            <a:off x="419100" y="5095875"/>
            <a:ext cx="13906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63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Sygic Travel /</a:t>
            </a:r>
          </a:p>
          <a:p>
            <a:r>
              <a:rPr sz="863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Tripomatic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296C432-DDCE-45B4-89D1-C704EE374082}"/>
              </a:ext>
            </a:extLst>
          </p:cNvPr>
          <p:cNvSpPr>
            <a:spLocks noGrp="1"/>
          </p:cNvSpPr>
          <p:nvPr/>
        </p:nvSpPr>
        <p:spPr>
          <a:xfrm>
            <a:off x="1828800" y="5067300"/>
            <a:ext cx="28575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F1E79E3-C35D-4820-8CA6-1FCA072A8D27}"/>
              </a:ext>
            </a:extLst>
          </p:cNvPr>
          <p:cNvSpPr>
            <a:spLocks noGrp="1"/>
          </p:cNvSpPr>
          <p:nvPr/>
        </p:nvSpPr>
        <p:spPr>
          <a:xfrm>
            <a:off x="1847850" y="5095875"/>
            <a:ext cx="28194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планирование поездок, маршруты, офлайн-карты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2AAC78A-E1B6-4FB7-82E1-3432D2E6C032}"/>
              </a:ext>
            </a:extLst>
          </p:cNvPr>
          <p:cNvSpPr>
            <a:spLocks noGrp="1"/>
          </p:cNvSpPr>
          <p:nvPr/>
        </p:nvSpPr>
        <p:spPr>
          <a:xfrm>
            <a:off x="4686300" y="5067300"/>
            <a:ext cx="314325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D6C68EE-DF0F-4CD9-A7CF-38BC20F4072B}"/>
              </a:ext>
            </a:extLst>
          </p:cNvPr>
          <p:cNvSpPr>
            <a:spLocks noGrp="1"/>
          </p:cNvSpPr>
          <p:nvPr/>
        </p:nvSpPr>
        <p:spPr>
          <a:xfrm>
            <a:off x="4705350" y="5095875"/>
            <a:ext cx="310515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лучше подходит для маршрутов, чем для долгосрочной базы личных карточек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F8E9505-0AD2-49F1-9B99-BAF618CCFFE6}"/>
              </a:ext>
            </a:extLst>
          </p:cNvPr>
          <p:cNvSpPr>
            <a:spLocks noGrp="1"/>
          </p:cNvSpPr>
          <p:nvPr/>
        </p:nvSpPr>
        <p:spPr>
          <a:xfrm>
            <a:off x="7829550" y="5067300"/>
            <a:ext cx="3810000" cy="800100"/>
          </a:xfrm>
          <a:prstGeom prst="rect">
            <a:avLst/>
          </a:prstGeom>
          <a:ln w="9525">
            <a:solidFill>
              <a:srgbClr val="D2DEE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FCCE30D-8F2A-47B1-AA26-7FBAC2D2EB09}"/>
              </a:ext>
            </a:extLst>
          </p:cNvPr>
          <p:cNvSpPr>
            <a:spLocks noGrp="1"/>
          </p:cNvSpPr>
          <p:nvPr/>
        </p:nvSpPr>
        <p:spPr>
          <a:xfrm>
            <a:off x="7848600" y="5095875"/>
            <a:ext cx="3771900" cy="742950"/>
          </a:xfrm>
          <a:prstGeom prst="rect">
            <a:avLst/>
          </a:prstGeom>
          <a:ln w="0">
            <a:solidFill>
              <a:srgbClr val="FFFFFF"/>
            </a:solidFill>
          </a:ln>
        </p:spPr>
        <p:txBody>
          <a:bodyPr lIns="76200" tIns="57150" rIns="76200" bIns="47625" anchor="ctr"/>
          <a:lstStyle/>
          <a:p>
            <a:r>
              <a:rPr sz="840" b="1">
                <a:solidFill>
                  <a:srgbClr val="174F3B"/>
                </a:solidFill>
                <a:latin typeface="Aptos"/>
                <a:ea typeface="Aptos"/>
                <a:cs typeface="Aptos"/>
              </a:rPr>
              <a:t>SpotBook проще и сфокусирован на хранении карточек, группах и фотографиях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3D7B4A5-17C8-4AD8-80C8-ADB47196A9CA}"/>
              </a:ext>
            </a:extLst>
          </p:cNvPr>
          <p:cNvSpPr>
            <a:spLocks noGrp="1"/>
          </p:cNvSpPr>
          <p:nvPr/>
        </p:nvSpPr>
        <p:spPr>
          <a:xfrm>
            <a:off x="400050" y="6038850"/>
            <a:ext cx="11239500" cy="304800"/>
          </a:xfrm>
          <a:prstGeom prst="rect">
            <a:avLst/>
          </a:prstGeom>
          <a:ln w="9525">
            <a:solidFill>
              <a:srgbClr val="C6DDE5"/>
            </a:solidFill>
          </a:ln>
        </p:spPr>
        <p:txBody>
          <a:bodyPr lIns="95250" tIns="57150" rIns="95250" bIns="57150" anchor="ctr"/>
          <a:lstStyle/>
          <a:p>
            <a:r>
              <a:rPr sz="863" b="1">
                <a:solidFill>
                  <a:srgbClr val="1F5262"/>
                </a:solidFill>
              </a:rPr>
              <a:t>Вывод: SpotBook не заменяет карты и туристические сервисы, а закрывает задачу личного хранения карточек мест с локальной базой и ручной синхронизацией.</a:t>
            </a:r>
          </a:p>
        </p:txBody>
      </p:sp>
    </p:spTree>
    <p:extLst>
      <p:ext uri="{BB962C8B-B14F-4D97-AF65-F5344CB8AC3E}">
        <p14:creationId xmlns:p14="http://schemas.microsoft.com/office/powerpoint/2010/main" val="1524090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04E3B42A-3FD4-40AB-A916-33C7A7C307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456F95-9992-4E74-8E9C-D17A59A2E8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382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27F420-D9C9-45F5-9F5D-04111B95E32F}"/>
              </a:ext>
            </a:extLst>
          </p:cNvPr>
          <p:cNvSpPr>
            <a:spLocks noGrp="1"/>
          </p:cNvSpPr>
          <p:nvPr/>
        </p:nvSpPr>
        <p:spPr>
          <a:xfrm>
            <a:off x="400050" y="23812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2C3E4E-F951-4036-8CCD-ED462DDEEF77}"/>
              </a:ext>
            </a:extLst>
          </p:cNvPr>
          <p:cNvSpPr>
            <a:spLocks noGrp="1"/>
          </p:cNvSpPr>
          <p:nvPr/>
        </p:nvSpPr>
        <p:spPr>
          <a:xfrm>
            <a:off x="400050" y="533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5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Функциональные требования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8A822B-8833-478B-AFB9-597D4EB5CF2F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1239500" cy="13335"/>
          </a:xfrm>
          <a:prstGeom prst="rect">
            <a:avLst/>
          </a:prstGeom>
          <a:solidFill>
            <a:srgbClr val="CAD6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3441BC-5DBA-48F1-B3BB-5E554A5D3D74}"/>
              </a:ext>
            </a:extLst>
          </p:cNvPr>
          <p:cNvSpPr>
            <a:spLocks noGrp="1"/>
          </p:cNvSpPr>
          <p:nvPr/>
        </p:nvSpPr>
        <p:spPr>
          <a:xfrm>
            <a:off x="11049000" y="304800"/>
            <a:ext cx="5238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350" b="1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36477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4D518B-9FDC-4251-9888-AE24C5721961}"/>
              </a:ext>
            </a:extLst>
          </p:cNvPr>
          <p:cNvSpPr>
            <a:spLocks noGrp="1"/>
          </p:cNvSpPr>
          <p:nvPr/>
        </p:nvSpPr>
        <p:spPr>
          <a:xfrm>
            <a:off x="523875" y="1428750"/>
            <a:ext cx="333375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A4851E-DA8E-4A11-94C8-B29EC667F1F9}"/>
              </a:ext>
            </a:extLst>
          </p:cNvPr>
          <p:cNvSpPr>
            <a:spLocks noGrp="1"/>
          </p:cNvSpPr>
          <p:nvPr/>
        </p:nvSpPr>
        <p:spPr>
          <a:xfrm>
            <a:off x="523875" y="1428750"/>
            <a:ext cx="57150" cy="1219200"/>
          </a:xfrm>
          <a:prstGeom prst="rect">
            <a:avLst/>
          </a:prstGeom>
          <a:solidFill>
            <a:srgbClr val="2F6F8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B52D91-125C-4682-8275-65C0D8BE1101}"/>
              </a:ext>
            </a:extLst>
          </p:cNvPr>
          <p:cNvSpPr>
            <a:spLocks noGrp="1"/>
          </p:cNvSpPr>
          <p:nvPr/>
        </p:nvSpPr>
        <p:spPr>
          <a:xfrm>
            <a:off x="733425" y="1600200"/>
            <a:ext cx="2952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Авторизация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63C050-73B9-4479-8959-999EEF6CCC48}"/>
              </a:ext>
            </a:extLst>
          </p:cNvPr>
          <p:cNvSpPr>
            <a:spLocks noGrp="1"/>
          </p:cNvSpPr>
          <p:nvPr/>
        </p:nvSpPr>
        <p:spPr>
          <a:xfrm>
            <a:off x="733425" y="1981200"/>
            <a:ext cx="29337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регистрация и вход по email/password; пароль хранится только в виде хэша; защищённые запросы идут с JWT.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6EEB73-17B3-4EBF-8428-E7645638551C}"/>
              </a:ext>
            </a:extLst>
          </p:cNvPr>
          <p:cNvSpPr>
            <a:spLocks noGrp="1"/>
          </p:cNvSpPr>
          <p:nvPr/>
        </p:nvSpPr>
        <p:spPr>
          <a:xfrm>
            <a:off x="4429125" y="1428750"/>
            <a:ext cx="333375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B70DAC-F200-4E3F-9AD9-E5C9F2835D76}"/>
              </a:ext>
            </a:extLst>
          </p:cNvPr>
          <p:cNvSpPr>
            <a:spLocks noGrp="1"/>
          </p:cNvSpPr>
          <p:nvPr/>
        </p:nvSpPr>
        <p:spPr>
          <a:xfrm>
            <a:off x="4429125" y="1428750"/>
            <a:ext cx="57150" cy="1219200"/>
          </a:xfrm>
          <a:prstGeom prst="rect">
            <a:avLst/>
          </a:prstGeom>
          <a:solidFill>
            <a:srgbClr val="2B7A6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53D23E-1328-4E01-915F-6E1C6EAD0D06}"/>
              </a:ext>
            </a:extLst>
          </p:cNvPr>
          <p:cNvSpPr>
            <a:spLocks noGrp="1"/>
          </p:cNvSpPr>
          <p:nvPr/>
        </p:nvSpPr>
        <p:spPr>
          <a:xfrm>
            <a:off x="4638675" y="1600200"/>
            <a:ext cx="2952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Карточки мест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2670B8-3863-4249-ACD4-C55DC3DF6653}"/>
              </a:ext>
            </a:extLst>
          </p:cNvPr>
          <p:cNvSpPr>
            <a:spLocks noGrp="1"/>
          </p:cNvSpPr>
          <p:nvPr/>
        </p:nvSpPr>
        <p:spPr>
          <a:xfrm>
            <a:off x="4638675" y="1981200"/>
            <a:ext cx="29337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создание, просмотр, редактирование, удаление, статус «Хочу посетить» / «Посещено», оценка и комментарий.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5CD1AE-DD58-49CC-B2CE-F525B1EA94E6}"/>
              </a:ext>
            </a:extLst>
          </p:cNvPr>
          <p:cNvSpPr>
            <a:spLocks noGrp="1"/>
          </p:cNvSpPr>
          <p:nvPr/>
        </p:nvSpPr>
        <p:spPr>
          <a:xfrm>
            <a:off x="8334375" y="1428750"/>
            <a:ext cx="333375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C21DB1-018E-405B-A3A8-2D26982168AD}"/>
              </a:ext>
            </a:extLst>
          </p:cNvPr>
          <p:cNvSpPr>
            <a:spLocks noGrp="1"/>
          </p:cNvSpPr>
          <p:nvPr/>
        </p:nvSpPr>
        <p:spPr>
          <a:xfrm>
            <a:off x="8334375" y="1428750"/>
            <a:ext cx="57150" cy="1219200"/>
          </a:xfrm>
          <a:prstGeom prst="rect">
            <a:avLst/>
          </a:prstGeom>
          <a:solidFill>
            <a:srgbClr val="6C5C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93E385-482F-4A7C-A34D-40D249FF4EEA}"/>
              </a:ext>
            </a:extLst>
          </p:cNvPr>
          <p:cNvSpPr>
            <a:spLocks noGrp="1"/>
          </p:cNvSpPr>
          <p:nvPr/>
        </p:nvSpPr>
        <p:spPr>
          <a:xfrm>
            <a:off x="8543925" y="1600200"/>
            <a:ext cx="2952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Фотографии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408A3B-0FB8-40C9-A1BD-5B5E84621A69}"/>
              </a:ext>
            </a:extLst>
          </p:cNvPr>
          <p:cNvSpPr>
            <a:spLocks noGrp="1"/>
          </p:cNvSpPr>
          <p:nvPr/>
        </p:nvSpPr>
        <p:spPr>
          <a:xfrm>
            <a:off x="8543925" y="1981200"/>
            <a:ext cx="29337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пользователь выбирает одно фото; оно сохраняется локально и может быть отправлено на сервер.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B043C8A-F1E1-451E-9496-24A72EDB160A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33375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CC923B-2DFD-4EAE-9F9F-FCE7D8FA55C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57150" cy="1219200"/>
          </a:xfrm>
          <a:prstGeom prst="rect">
            <a:avLst/>
          </a:prstGeom>
          <a:solidFill>
            <a:srgbClr val="9A6A2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4C70E3-DC16-4086-B7F7-92C4086B84AD}"/>
              </a:ext>
            </a:extLst>
          </p:cNvPr>
          <p:cNvSpPr>
            <a:spLocks noGrp="1"/>
          </p:cNvSpPr>
          <p:nvPr/>
        </p:nvSpPr>
        <p:spPr>
          <a:xfrm>
            <a:off x="733425" y="3267075"/>
            <a:ext cx="2952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Группы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ADCA3F-59A1-45D8-9E07-810B265C74E9}"/>
              </a:ext>
            </a:extLst>
          </p:cNvPr>
          <p:cNvSpPr>
            <a:spLocks noGrp="1"/>
          </p:cNvSpPr>
          <p:nvPr/>
        </p:nvSpPr>
        <p:spPr>
          <a:xfrm>
            <a:off x="733425" y="3648075"/>
            <a:ext cx="29337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создание групп, просмотр карточек внутри группы, удаление связи без удаления самой карточки.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171C775-8566-420B-BD9A-9E7AED3309A0}"/>
              </a:ext>
            </a:extLst>
          </p:cNvPr>
          <p:cNvSpPr>
            <a:spLocks noGrp="1"/>
          </p:cNvSpPr>
          <p:nvPr/>
        </p:nvSpPr>
        <p:spPr>
          <a:xfrm>
            <a:off x="4429125" y="3095625"/>
            <a:ext cx="333375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DB36062-E610-4C18-8F47-A6E22A23B0B7}"/>
              </a:ext>
            </a:extLst>
          </p:cNvPr>
          <p:cNvSpPr>
            <a:spLocks noGrp="1"/>
          </p:cNvSpPr>
          <p:nvPr/>
        </p:nvSpPr>
        <p:spPr>
          <a:xfrm>
            <a:off x="4429125" y="3095625"/>
            <a:ext cx="57150" cy="1219200"/>
          </a:xfrm>
          <a:prstGeom prst="rect">
            <a:avLst/>
          </a:prstGeom>
          <a:solidFill>
            <a:srgbClr val="2F6F8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1D9571-7EE6-49D9-B477-DBE4E8805221}"/>
              </a:ext>
            </a:extLst>
          </p:cNvPr>
          <p:cNvSpPr>
            <a:spLocks noGrp="1"/>
          </p:cNvSpPr>
          <p:nvPr/>
        </p:nvSpPr>
        <p:spPr>
          <a:xfrm>
            <a:off x="4638675" y="3267075"/>
            <a:ext cx="2952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Локальное хранение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72F559-4FF0-4987-8098-30C1DDA51B46}"/>
              </a:ext>
            </a:extLst>
          </p:cNvPr>
          <p:cNvSpPr>
            <a:spLocks noGrp="1"/>
          </p:cNvSpPr>
          <p:nvPr/>
        </p:nvSpPr>
        <p:spPr>
          <a:xfrm>
            <a:off x="4638675" y="3648075"/>
            <a:ext cx="29337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данные сначала сохраняются в Room; записи имеют syncStatus: SYNCED, NOT_SYNCED или DELETED.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29045B9-7F9A-411A-B2D3-CF4EE7287527}"/>
              </a:ext>
            </a:extLst>
          </p:cNvPr>
          <p:cNvSpPr>
            <a:spLocks noGrp="1"/>
          </p:cNvSpPr>
          <p:nvPr/>
        </p:nvSpPr>
        <p:spPr>
          <a:xfrm>
            <a:off x="8334375" y="3095625"/>
            <a:ext cx="333375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9C3017-4F79-495A-9DAF-36A7DE6D63D6}"/>
              </a:ext>
            </a:extLst>
          </p:cNvPr>
          <p:cNvSpPr>
            <a:spLocks noGrp="1"/>
          </p:cNvSpPr>
          <p:nvPr/>
        </p:nvSpPr>
        <p:spPr>
          <a:xfrm>
            <a:off x="8334375" y="3095625"/>
            <a:ext cx="57150" cy="1219200"/>
          </a:xfrm>
          <a:prstGeom prst="rect">
            <a:avLst/>
          </a:prstGeom>
          <a:solidFill>
            <a:srgbClr val="A5474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0251AF8-3039-4992-A19A-447BCE4D8996}"/>
              </a:ext>
            </a:extLst>
          </p:cNvPr>
          <p:cNvSpPr>
            <a:spLocks noGrp="1"/>
          </p:cNvSpPr>
          <p:nvPr/>
        </p:nvSpPr>
        <p:spPr>
          <a:xfrm>
            <a:off x="8543925" y="3267075"/>
            <a:ext cx="2952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Ручная синхронизация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6B2FC1C-2084-4BD5-A902-0F5ADF45486A}"/>
              </a:ext>
            </a:extLst>
          </p:cNvPr>
          <p:cNvSpPr>
            <a:spLocks noGrp="1"/>
          </p:cNvSpPr>
          <p:nvPr/>
        </p:nvSpPr>
        <p:spPr>
          <a:xfrm>
            <a:off x="8543925" y="3648075"/>
            <a:ext cx="29337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экспорт отправляет локальные изменения на backend, импорт загружает актуальные данные пользователя.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B1CF77-091B-4A4B-AAB8-151F96661AAC}"/>
              </a:ext>
            </a:extLst>
          </p:cNvPr>
          <p:cNvSpPr>
            <a:spLocks noGrp="1"/>
          </p:cNvSpPr>
          <p:nvPr/>
        </p:nvSpPr>
        <p:spPr>
          <a:xfrm>
            <a:off x="666750" y="4933950"/>
            <a:ext cx="10668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Дополнительно: сохранение авторизации при повторном входе в приложение и корректная работа при повороте экрана.</a:t>
            </a:r>
          </a:p>
        </p:txBody>
      </p:sp>
    </p:spTree>
    <p:extLst>
      <p:ext uri="{BB962C8B-B14F-4D97-AF65-F5344CB8AC3E}">
        <p14:creationId xmlns:p14="http://schemas.microsoft.com/office/powerpoint/2010/main" val="307224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8EC136A-B0BA-48F1-91AE-C081EA86BD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D05444-2616-4798-A86F-7B571ECBFB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382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06345E-917C-4317-A878-969220A74D35}"/>
              </a:ext>
            </a:extLst>
          </p:cNvPr>
          <p:cNvSpPr>
            <a:spLocks noGrp="1"/>
          </p:cNvSpPr>
          <p:nvPr/>
        </p:nvSpPr>
        <p:spPr>
          <a:xfrm>
            <a:off x="400050" y="23812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EDEB9D-1BE9-49AB-884E-54B256505A21}"/>
              </a:ext>
            </a:extLst>
          </p:cNvPr>
          <p:cNvSpPr>
            <a:spLocks noGrp="1"/>
          </p:cNvSpPr>
          <p:nvPr/>
        </p:nvSpPr>
        <p:spPr>
          <a:xfrm>
            <a:off x="400050" y="533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5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Варианты использования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E1B3AF-5D7B-492E-A9A1-D1F47257C49A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1239500" cy="13335"/>
          </a:xfrm>
          <a:prstGeom prst="rect">
            <a:avLst/>
          </a:prstGeom>
          <a:solidFill>
            <a:srgbClr val="CAD6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775C8-9AF0-477B-B434-57F9965F4D77}"/>
              </a:ext>
            </a:extLst>
          </p:cNvPr>
          <p:cNvSpPr>
            <a:spLocks noGrp="1"/>
          </p:cNvSpPr>
          <p:nvPr/>
        </p:nvSpPr>
        <p:spPr>
          <a:xfrm>
            <a:off x="11049000" y="304800"/>
            <a:ext cx="5238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350" b="1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3647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574872-B276-423D-A956-BF8FBBE18D46}"/>
              </a:ext>
            </a:extLst>
          </p:cNvPr>
          <p:cNvSpPr>
            <a:spLocks noGrp="1"/>
          </p:cNvSpPr>
          <p:nvPr/>
        </p:nvSpPr>
        <p:spPr>
          <a:xfrm>
            <a:off x="6961239" y="1571625"/>
            <a:ext cx="4421136" cy="2133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350" b="0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регистрация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и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вход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пользователя</a:t>
            </a:r>
            <a:endParaRPr sz="1350" b="0" dirty="0">
              <a:solidFill>
                <a:srgbClr val="172331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350" b="0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создание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карточки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места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с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адресом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,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оценкой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и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фото</a:t>
            </a:r>
            <a:endParaRPr sz="1350" b="0" dirty="0">
              <a:solidFill>
                <a:srgbClr val="172331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350" b="0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просмотр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списка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и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подробной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информации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о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карточке</a:t>
            </a:r>
            <a:endParaRPr sz="1350" b="0" dirty="0">
              <a:solidFill>
                <a:srgbClr val="172331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350" b="0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редактирование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,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удаление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и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изменение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статуса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посещения</a:t>
            </a:r>
            <a:endParaRPr sz="1350" b="0" dirty="0">
              <a:solidFill>
                <a:srgbClr val="172331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350" b="0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создание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групп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и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привязка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карточек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к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группе</a:t>
            </a:r>
            <a:endParaRPr sz="1350" b="0" dirty="0">
              <a:solidFill>
                <a:srgbClr val="172331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350" b="0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экспорт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локальных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изменений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на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сервер</a:t>
            </a:r>
            <a:endParaRPr sz="1350" b="0" dirty="0">
              <a:solidFill>
                <a:srgbClr val="172331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350" b="0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импорт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серверных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данных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обратно</a:t>
            </a:r>
            <a:r>
              <a:rPr sz="1350" b="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 </a:t>
            </a:r>
            <a:r>
              <a:rPr lang="ru-RU" sz="1350" dirty="0">
                <a:solidFill>
                  <a:srgbClr val="172331"/>
                </a:solidFill>
                <a:latin typeface="Aptos"/>
                <a:ea typeface="Aptos"/>
                <a:cs typeface="Aptos"/>
              </a:rPr>
              <a:t>на устройство</a:t>
            </a:r>
            <a:endParaRPr sz="1350" b="0" dirty="0">
              <a:solidFill>
                <a:srgbClr val="17233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FEFD37-6C19-46B5-B385-3E5168CEC94B}"/>
              </a:ext>
            </a:extLst>
          </p:cNvPr>
          <p:cNvSpPr>
            <a:spLocks noGrp="1"/>
          </p:cNvSpPr>
          <p:nvPr/>
        </p:nvSpPr>
        <p:spPr>
          <a:xfrm>
            <a:off x="6429375" y="5191124"/>
            <a:ext cx="4953000" cy="826217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D373A3-91C7-4734-BA2A-F5C3CDA3C127}"/>
              </a:ext>
            </a:extLst>
          </p:cNvPr>
          <p:cNvSpPr>
            <a:spLocks noGrp="1"/>
          </p:cNvSpPr>
          <p:nvPr/>
        </p:nvSpPr>
        <p:spPr>
          <a:xfrm>
            <a:off x="6667500" y="5334000"/>
            <a:ext cx="4476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3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Главный актор — авторизованный пользователь. Сервер выполняет проверку токена и возвращает только данные текущего пользователя.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B3FEC2B-8A86-78A3-8691-BE6CCDBF2D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1250586"/>
            <a:ext cx="5939311" cy="4909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79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5CE56AFE-6671-497E-A868-E7E81667E5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611CCB-5225-41BA-A41A-C841947939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382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7EBAC9-D136-4E03-9649-313249DCD765}"/>
              </a:ext>
            </a:extLst>
          </p:cNvPr>
          <p:cNvSpPr>
            <a:spLocks noGrp="1"/>
          </p:cNvSpPr>
          <p:nvPr/>
        </p:nvSpPr>
        <p:spPr>
          <a:xfrm>
            <a:off x="400050" y="23812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EAEF6B-DB52-4F2A-BEE2-CF6906CE5F01}"/>
              </a:ext>
            </a:extLst>
          </p:cNvPr>
          <p:cNvSpPr>
            <a:spLocks noGrp="1"/>
          </p:cNvSpPr>
          <p:nvPr/>
        </p:nvSpPr>
        <p:spPr>
          <a:xfrm>
            <a:off x="400050" y="533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5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Технологии разработки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31E994-6DDF-41E7-9070-518BD51855D4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1239500" cy="13335"/>
          </a:xfrm>
          <a:prstGeom prst="rect">
            <a:avLst/>
          </a:prstGeom>
          <a:solidFill>
            <a:srgbClr val="CAD6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8DA5C-06FD-4C49-9CDC-F819007CE98B}"/>
              </a:ext>
            </a:extLst>
          </p:cNvPr>
          <p:cNvSpPr>
            <a:spLocks noGrp="1"/>
          </p:cNvSpPr>
          <p:nvPr/>
        </p:nvSpPr>
        <p:spPr>
          <a:xfrm>
            <a:off x="11049000" y="304800"/>
            <a:ext cx="5238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350" b="1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3647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E3E478-9BCB-4C73-8432-CCE6C9F6A821}"/>
              </a:ext>
            </a:extLst>
          </p:cNvPr>
          <p:cNvSpPr>
            <a:spLocks noGrp="1"/>
          </p:cNvSpPr>
          <p:nvPr/>
        </p:nvSpPr>
        <p:spPr>
          <a:xfrm>
            <a:off x="571500" y="1428750"/>
            <a:ext cx="5143500" cy="371475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231A3A-1E2B-4E88-AE55-C4FDA252B817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2857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Android-клиент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0FBB07-F686-4B91-8FA8-1252DEF2E70B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1143000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D1900E-C52C-44BE-B065-98708B674612}"/>
              </a:ext>
            </a:extLst>
          </p:cNvPr>
          <p:cNvSpPr>
            <a:spLocks noGrp="1"/>
          </p:cNvSpPr>
          <p:nvPr/>
        </p:nvSpPr>
        <p:spPr>
          <a:xfrm>
            <a:off x="990600" y="2257425"/>
            <a:ext cx="914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Kotlin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AED537-86DF-462C-ABF3-E6EC37663A36}"/>
              </a:ext>
            </a:extLst>
          </p:cNvPr>
          <p:cNvSpPr>
            <a:spLocks noGrp="1"/>
          </p:cNvSpPr>
          <p:nvPr/>
        </p:nvSpPr>
        <p:spPr>
          <a:xfrm>
            <a:off x="2190750" y="2190750"/>
            <a:ext cx="1809750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E95ECE-D829-4FB9-8147-EEDA0291D816}"/>
              </a:ext>
            </a:extLst>
          </p:cNvPr>
          <p:cNvSpPr>
            <a:spLocks noGrp="1"/>
          </p:cNvSpPr>
          <p:nvPr/>
        </p:nvSpPr>
        <p:spPr>
          <a:xfrm>
            <a:off x="2305050" y="2257425"/>
            <a:ext cx="1581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Jetpack Compose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F24DA0-D88B-4704-ADBC-04E21F801F29}"/>
              </a:ext>
            </a:extLst>
          </p:cNvPr>
          <p:cNvSpPr>
            <a:spLocks noGrp="1"/>
          </p:cNvSpPr>
          <p:nvPr/>
        </p:nvSpPr>
        <p:spPr>
          <a:xfrm>
            <a:off x="4171950" y="2190750"/>
            <a:ext cx="1190625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C3AB5A-6925-4AD7-ACEC-C428301804CE}"/>
              </a:ext>
            </a:extLst>
          </p:cNvPr>
          <p:cNvSpPr>
            <a:spLocks noGrp="1"/>
          </p:cNvSpPr>
          <p:nvPr/>
        </p:nvSpPr>
        <p:spPr>
          <a:xfrm>
            <a:off x="4286250" y="2257425"/>
            <a:ext cx="9620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Material 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61432FA-7C57-43D5-B0FE-F598A7DB864C}"/>
              </a:ext>
            </a:extLst>
          </p:cNvPr>
          <p:cNvSpPr>
            <a:spLocks noGrp="1"/>
          </p:cNvSpPr>
          <p:nvPr/>
        </p:nvSpPr>
        <p:spPr>
          <a:xfrm>
            <a:off x="876300" y="2686050"/>
            <a:ext cx="1381125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B9EAF0-20FA-44EE-B541-30E0AD14609E}"/>
              </a:ext>
            </a:extLst>
          </p:cNvPr>
          <p:cNvSpPr>
            <a:spLocks noGrp="1"/>
          </p:cNvSpPr>
          <p:nvPr/>
        </p:nvSpPr>
        <p:spPr>
          <a:xfrm>
            <a:off x="990600" y="2752725"/>
            <a:ext cx="11525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Navigation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CC59D64-3C36-446F-8087-1A572EE440EB}"/>
              </a:ext>
            </a:extLst>
          </p:cNvPr>
          <p:cNvSpPr>
            <a:spLocks noGrp="1"/>
          </p:cNvSpPr>
          <p:nvPr/>
        </p:nvSpPr>
        <p:spPr>
          <a:xfrm>
            <a:off x="2428875" y="2686050"/>
            <a:ext cx="1238250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EE54CA-77F2-46B4-B827-4434FEED1E7B}"/>
              </a:ext>
            </a:extLst>
          </p:cNvPr>
          <p:cNvSpPr>
            <a:spLocks noGrp="1"/>
          </p:cNvSpPr>
          <p:nvPr/>
        </p:nvSpPr>
        <p:spPr>
          <a:xfrm>
            <a:off x="2543175" y="2752725"/>
            <a:ext cx="10096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ViewModel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5FB2140-6E80-4324-9AD5-115790C3BCD4}"/>
              </a:ext>
            </a:extLst>
          </p:cNvPr>
          <p:cNvSpPr>
            <a:spLocks noGrp="1"/>
          </p:cNvSpPr>
          <p:nvPr/>
        </p:nvSpPr>
        <p:spPr>
          <a:xfrm>
            <a:off x="3857625" y="2686050"/>
            <a:ext cx="1000125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329044-72C1-4392-9868-BC2D70BE0AB0}"/>
              </a:ext>
            </a:extLst>
          </p:cNvPr>
          <p:cNvSpPr>
            <a:spLocks noGrp="1"/>
          </p:cNvSpPr>
          <p:nvPr/>
        </p:nvSpPr>
        <p:spPr>
          <a:xfrm>
            <a:off x="3971925" y="2752725"/>
            <a:ext cx="7715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Room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3C7CEB5-A470-4C92-A32F-34C1711A5019}"/>
              </a:ext>
            </a:extLst>
          </p:cNvPr>
          <p:cNvSpPr>
            <a:spLocks noGrp="1"/>
          </p:cNvSpPr>
          <p:nvPr/>
        </p:nvSpPr>
        <p:spPr>
          <a:xfrm>
            <a:off x="876300" y="3181350"/>
            <a:ext cx="1381125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91D754-59F5-48F6-A3D3-27E77C29CDEF}"/>
              </a:ext>
            </a:extLst>
          </p:cNvPr>
          <p:cNvSpPr>
            <a:spLocks noGrp="1"/>
          </p:cNvSpPr>
          <p:nvPr/>
        </p:nvSpPr>
        <p:spPr>
          <a:xfrm>
            <a:off x="990600" y="3248025"/>
            <a:ext cx="11525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Ktor Client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56A0D4F-4BF6-40D1-BDD0-0C319D3422E5}"/>
              </a:ext>
            </a:extLst>
          </p:cNvPr>
          <p:cNvSpPr>
            <a:spLocks noGrp="1"/>
          </p:cNvSpPr>
          <p:nvPr/>
        </p:nvSpPr>
        <p:spPr>
          <a:xfrm>
            <a:off x="2428875" y="3181350"/>
            <a:ext cx="857250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A191AC4-A980-494F-AF33-1AA45164C21B}"/>
              </a:ext>
            </a:extLst>
          </p:cNvPr>
          <p:cNvSpPr>
            <a:spLocks noGrp="1"/>
          </p:cNvSpPr>
          <p:nvPr/>
        </p:nvSpPr>
        <p:spPr>
          <a:xfrm>
            <a:off x="2543175" y="3248025"/>
            <a:ext cx="6286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Coil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F832CC1-AAB4-40E8-AF7B-319531F2128E}"/>
              </a:ext>
            </a:extLst>
          </p:cNvPr>
          <p:cNvSpPr>
            <a:spLocks noGrp="1"/>
          </p:cNvSpPr>
          <p:nvPr/>
        </p:nvSpPr>
        <p:spPr>
          <a:xfrm>
            <a:off x="3476625" y="3181350"/>
            <a:ext cx="1809750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0297E8-94AD-49C2-B112-8657F4DB1C5A}"/>
              </a:ext>
            </a:extLst>
          </p:cNvPr>
          <p:cNvSpPr>
            <a:spLocks noGrp="1"/>
          </p:cNvSpPr>
          <p:nvPr/>
        </p:nvSpPr>
        <p:spPr>
          <a:xfrm>
            <a:off x="3590925" y="3248025"/>
            <a:ext cx="1581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SharedPreferences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853E292-A71A-4C8F-916D-A03EF8EE0E23}"/>
              </a:ext>
            </a:extLst>
          </p:cNvPr>
          <p:cNvSpPr>
            <a:spLocks noGrp="1"/>
          </p:cNvSpPr>
          <p:nvPr/>
        </p:nvSpPr>
        <p:spPr>
          <a:xfrm>
            <a:off x="876300" y="3952875"/>
            <a:ext cx="4333875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7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Назначение: интерфейс, навигация, локальное хранение, работа с JWT и отправка запросов к серверу.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A5BC7C0-33FD-40D3-8CEC-314D8193BD2D}"/>
              </a:ext>
            </a:extLst>
          </p:cNvPr>
          <p:cNvSpPr>
            <a:spLocks noGrp="1"/>
          </p:cNvSpPr>
          <p:nvPr/>
        </p:nvSpPr>
        <p:spPr>
          <a:xfrm>
            <a:off x="6477000" y="1428750"/>
            <a:ext cx="5143500" cy="371475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45BDB5-50C9-4F88-8863-7999D7F8C39A}"/>
              </a:ext>
            </a:extLst>
          </p:cNvPr>
          <p:cNvSpPr>
            <a:spLocks noGrp="1"/>
          </p:cNvSpPr>
          <p:nvPr/>
        </p:nvSpPr>
        <p:spPr>
          <a:xfrm>
            <a:off x="6762750" y="1695450"/>
            <a:ext cx="3238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Backend и база данных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4B63605-1002-4684-B82E-0FAA6A2CC1F9}"/>
              </a:ext>
            </a:extLst>
          </p:cNvPr>
          <p:cNvSpPr>
            <a:spLocks noGrp="1"/>
          </p:cNvSpPr>
          <p:nvPr/>
        </p:nvSpPr>
        <p:spPr>
          <a:xfrm>
            <a:off x="6781800" y="2190750"/>
            <a:ext cx="1143000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15FCF5-2BA1-4D8B-B3AD-D050D2FA61A2}"/>
              </a:ext>
            </a:extLst>
          </p:cNvPr>
          <p:cNvSpPr>
            <a:spLocks noGrp="1"/>
          </p:cNvSpPr>
          <p:nvPr/>
        </p:nvSpPr>
        <p:spPr>
          <a:xfrm>
            <a:off x="6896100" y="2257425"/>
            <a:ext cx="914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Kotlin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0974B-8056-4249-BF4D-7579EB00440F}"/>
              </a:ext>
            </a:extLst>
          </p:cNvPr>
          <p:cNvSpPr>
            <a:spLocks noGrp="1"/>
          </p:cNvSpPr>
          <p:nvPr/>
        </p:nvSpPr>
        <p:spPr>
          <a:xfrm>
            <a:off x="8096250" y="2190750"/>
            <a:ext cx="952500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701F1C-4938-4CC4-B452-6E9509B47535}"/>
              </a:ext>
            </a:extLst>
          </p:cNvPr>
          <p:cNvSpPr>
            <a:spLocks noGrp="1"/>
          </p:cNvSpPr>
          <p:nvPr/>
        </p:nvSpPr>
        <p:spPr>
          <a:xfrm>
            <a:off x="8210550" y="2257425"/>
            <a:ext cx="723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Ktor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921216-8F73-4E29-9B8A-C59768B0D339}"/>
              </a:ext>
            </a:extLst>
          </p:cNvPr>
          <p:cNvSpPr>
            <a:spLocks noGrp="1"/>
          </p:cNvSpPr>
          <p:nvPr/>
        </p:nvSpPr>
        <p:spPr>
          <a:xfrm>
            <a:off x="9220200" y="2190750"/>
            <a:ext cx="1190625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2912E-CD15-476A-9F9D-2536210D1BD7}"/>
              </a:ext>
            </a:extLst>
          </p:cNvPr>
          <p:cNvSpPr>
            <a:spLocks noGrp="1"/>
          </p:cNvSpPr>
          <p:nvPr/>
        </p:nvSpPr>
        <p:spPr>
          <a:xfrm>
            <a:off x="9334500" y="2257425"/>
            <a:ext cx="9620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REST API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AF7599E-6BEA-44E2-882F-0EF8A2704134}"/>
              </a:ext>
            </a:extLst>
          </p:cNvPr>
          <p:cNvSpPr>
            <a:spLocks noGrp="1"/>
          </p:cNvSpPr>
          <p:nvPr/>
        </p:nvSpPr>
        <p:spPr>
          <a:xfrm>
            <a:off x="6781800" y="2686050"/>
            <a:ext cx="1095375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C1EE30-2548-44BD-90F3-007C087F1A3C}"/>
              </a:ext>
            </a:extLst>
          </p:cNvPr>
          <p:cNvSpPr>
            <a:spLocks noGrp="1"/>
          </p:cNvSpPr>
          <p:nvPr/>
        </p:nvSpPr>
        <p:spPr>
          <a:xfrm>
            <a:off x="6896100" y="2752725"/>
            <a:ext cx="86677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SQLite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24B2894-2735-4A26-BA8D-DAC2D0D96708}"/>
              </a:ext>
            </a:extLst>
          </p:cNvPr>
          <p:cNvSpPr>
            <a:spLocks noGrp="1"/>
          </p:cNvSpPr>
          <p:nvPr/>
        </p:nvSpPr>
        <p:spPr>
          <a:xfrm>
            <a:off x="8048625" y="2686050"/>
            <a:ext cx="857250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B261661-7565-4840-804B-8C6D985D3E3F}"/>
              </a:ext>
            </a:extLst>
          </p:cNvPr>
          <p:cNvSpPr>
            <a:spLocks noGrp="1"/>
          </p:cNvSpPr>
          <p:nvPr/>
        </p:nvSpPr>
        <p:spPr>
          <a:xfrm>
            <a:off x="8162925" y="2752725"/>
            <a:ext cx="6286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JWT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3B73EC-FA7F-466C-8BCB-A1CE0C69F899}"/>
              </a:ext>
            </a:extLst>
          </p:cNvPr>
          <p:cNvSpPr>
            <a:spLocks noGrp="1"/>
          </p:cNvSpPr>
          <p:nvPr/>
        </p:nvSpPr>
        <p:spPr>
          <a:xfrm>
            <a:off x="9077325" y="2686050"/>
            <a:ext cx="1476375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A61428C-E0B5-434B-A702-43FEECAD8ABD}"/>
              </a:ext>
            </a:extLst>
          </p:cNvPr>
          <p:cNvSpPr>
            <a:spLocks noGrp="1"/>
          </p:cNvSpPr>
          <p:nvPr/>
        </p:nvSpPr>
        <p:spPr>
          <a:xfrm>
            <a:off x="9191625" y="2752725"/>
            <a:ext cx="124777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PBKDF2 hash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1B1379D-F385-41B1-B9AB-4B0F8A9F902C}"/>
              </a:ext>
            </a:extLst>
          </p:cNvPr>
          <p:cNvSpPr>
            <a:spLocks noGrp="1"/>
          </p:cNvSpPr>
          <p:nvPr/>
        </p:nvSpPr>
        <p:spPr>
          <a:xfrm>
            <a:off x="6781800" y="3181350"/>
            <a:ext cx="2000250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A92FA29-281E-472F-848E-0092F864CB9A}"/>
              </a:ext>
            </a:extLst>
          </p:cNvPr>
          <p:cNvSpPr>
            <a:spLocks noGrp="1"/>
          </p:cNvSpPr>
          <p:nvPr/>
        </p:nvSpPr>
        <p:spPr>
          <a:xfrm>
            <a:off x="6896100" y="3248025"/>
            <a:ext cx="17716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kotlinx.serialization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50A2F82-0B00-4195-92B4-BD72E6206716}"/>
              </a:ext>
            </a:extLst>
          </p:cNvPr>
          <p:cNvSpPr>
            <a:spLocks noGrp="1"/>
          </p:cNvSpPr>
          <p:nvPr/>
        </p:nvSpPr>
        <p:spPr>
          <a:xfrm>
            <a:off x="8953500" y="3181350"/>
            <a:ext cx="1571625" cy="323850"/>
          </a:xfrm>
          <a:prstGeom prst="rect">
            <a:avLst/>
          </a:prstGeom>
          <a:solidFill>
            <a:srgbClr val="EAF3F6"/>
          </a:solidFill>
          <a:ln w="9525">
            <a:solidFill>
              <a:srgbClr val="B8D1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2A7D161-BC6C-43EB-85E6-93034247FCFE}"/>
              </a:ext>
            </a:extLst>
          </p:cNvPr>
          <p:cNvSpPr>
            <a:spLocks noGrp="1"/>
          </p:cNvSpPr>
          <p:nvPr/>
        </p:nvSpPr>
        <p:spPr>
          <a:xfrm>
            <a:off x="9067800" y="3248025"/>
            <a:ext cx="13430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088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Multipart фото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FB1DDCE-8B53-40C6-978E-F1810E9F03EE}"/>
              </a:ext>
            </a:extLst>
          </p:cNvPr>
          <p:cNvSpPr>
            <a:spLocks noGrp="1"/>
          </p:cNvSpPr>
          <p:nvPr/>
        </p:nvSpPr>
        <p:spPr>
          <a:xfrm>
            <a:off x="6781800" y="3952875"/>
            <a:ext cx="4333875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7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Назначение: регистрация, авторизация, проверка токена, REST-маршруты, SQLite и хранение файлов фотографий.</a:t>
            </a:r>
          </a:p>
        </p:txBody>
      </p:sp>
    </p:spTree>
    <p:extLst>
      <p:ext uri="{BB962C8B-B14F-4D97-AF65-F5344CB8AC3E}">
        <p14:creationId xmlns:p14="http://schemas.microsoft.com/office/powerpoint/2010/main" val="1523241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CA79DBA-2034-435F-9BB8-CEED00A069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6E93EB-6FBE-45CC-BE25-CEF7F3722B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382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8F768D-F83C-459E-90B9-EA94BB710E36}"/>
              </a:ext>
            </a:extLst>
          </p:cNvPr>
          <p:cNvSpPr>
            <a:spLocks noGrp="1"/>
          </p:cNvSpPr>
          <p:nvPr/>
        </p:nvSpPr>
        <p:spPr>
          <a:xfrm>
            <a:off x="400050" y="23812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6BD77E-7963-4836-B2A9-56E86264C529}"/>
              </a:ext>
            </a:extLst>
          </p:cNvPr>
          <p:cNvSpPr>
            <a:spLocks noGrp="1"/>
          </p:cNvSpPr>
          <p:nvPr/>
        </p:nvSpPr>
        <p:spPr>
          <a:xfrm>
            <a:off x="400050" y="533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5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Модель хранения данных и синхронизация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D06764-45D8-42EE-ABD0-09D65A41FF34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1239500" cy="13335"/>
          </a:xfrm>
          <a:prstGeom prst="rect">
            <a:avLst/>
          </a:prstGeom>
          <a:solidFill>
            <a:srgbClr val="CAD6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9DF226-1A63-4EBF-AE6A-060BFD650B29}"/>
              </a:ext>
            </a:extLst>
          </p:cNvPr>
          <p:cNvSpPr>
            <a:spLocks noGrp="1"/>
          </p:cNvSpPr>
          <p:nvPr/>
        </p:nvSpPr>
        <p:spPr>
          <a:xfrm>
            <a:off x="11049000" y="304800"/>
            <a:ext cx="5238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350" b="1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lang="ru-RU" sz="1350" b="1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08</a:t>
            </a:r>
            <a:endParaRPr sz="1350" b="1" dirty="0">
              <a:solidFill>
                <a:srgbClr val="536477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30" name="Picture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33375" y="1979839"/>
            <a:ext cx="5715000" cy="3469821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143625" y="1690688"/>
            <a:ext cx="5715000" cy="404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877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47650" y="1429808"/>
            <a:ext cx="1790700" cy="3979333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228850" y="1429808"/>
            <a:ext cx="1790700" cy="397933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210050" y="1429808"/>
            <a:ext cx="1790700" cy="397933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191250" y="1429808"/>
            <a:ext cx="1790700" cy="39793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8172450" y="1429808"/>
            <a:ext cx="1790700" cy="397933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0153650" y="1429808"/>
            <a:ext cx="1790700" cy="3979333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3A59201A-EA1B-45F6-9745-28E2CE3A38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382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3C89ECBA-516E-42F2-A085-EA9747DDC725}"/>
              </a:ext>
            </a:extLst>
          </p:cNvPr>
          <p:cNvSpPr>
            <a:spLocks noGrp="1"/>
          </p:cNvSpPr>
          <p:nvPr/>
        </p:nvSpPr>
        <p:spPr>
          <a:xfrm>
            <a:off x="400050" y="23812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31E12B50-14A1-43DF-B9B8-81E30E2949D1}"/>
              </a:ext>
            </a:extLst>
          </p:cNvPr>
          <p:cNvSpPr>
            <a:spLocks noGrp="1"/>
          </p:cNvSpPr>
          <p:nvPr/>
        </p:nvSpPr>
        <p:spPr>
          <a:xfrm>
            <a:off x="400050" y="533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5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Основные экраны приложения</a:t>
            </a: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70DB807B-C0FB-4079-A081-33F0B1A6948A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1239500" cy="13335"/>
          </a:xfrm>
          <a:prstGeom prst="rect">
            <a:avLst/>
          </a:prstGeom>
          <a:solidFill>
            <a:srgbClr val="CAD6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ACF7C4F7-CC00-430D-9727-C259C6B4AF91}"/>
              </a:ext>
            </a:extLst>
          </p:cNvPr>
          <p:cNvSpPr>
            <a:spLocks noGrp="1"/>
          </p:cNvSpPr>
          <p:nvPr/>
        </p:nvSpPr>
        <p:spPr>
          <a:xfrm>
            <a:off x="11049000" y="304800"/>
            <a:ext cx="5238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350" b="1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lang="ru-RU" sz="1350" b="1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09</a:t>
            </a:r>
            <a:endParaRPr sz="1350" b="1" dirty="0">
              <a:solidFill>
                <a:srgbClr val="536477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512860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9B7291A-6611-42A5-9643-2B0AE2AC717E}"/>
              </a:ext>
            </a:extLst>
          </p:cNvPr>
          <p:cNvSpPr>
            <a:spLocks noGrp="1"/>
          </p:cNvSpPr>
          <p:nvPr/>
        </p:nvSpPr>
        <p:spPr>
          <a:xfrm>
            <a:off x="0" y="-9832"/>
            <a:ext cx="12192000" cy="6858000"/>
          </a:xfrm>
          <a:prstGeom prst="rect">
            <a:avLst/>
          </a:prstGeom>
          <a:solidFill>
            <a:srgbClr val="F7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E7C8F4-9C4D-49B2-992F-C1A3167434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3825" cy="6858000"/>
          </a:xfrm>
          <a:prstGeom prst="rect">
            <a:avLst/>
          </a:prstGeom>
          <a:solidFill>
            <a:srgbClr val="204A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843BCE-C6B2-45FE-B7C7-EA54F84321A6}"/>
              </a:ext>
            </a:extLst>
          </p:cNvPr>
          <p:cNvSpPr>
            <a:spLocks noGrp="1"/>
          </p:cNvSpPr>
          <p:nvPr/>
        </p:nvSpPr>
        <p:spPr>
          <a:xfrm>
            <a:off x="400050" y="23812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SpotBook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F75373-7084-401E-9E77-B77C1698599E}"/>
              </a:ext>
            </a:extLst>
          </p:cNvPr>
          <p:cNvSpPr>
            <a:spLocks noGrp="1"/>
          </p:cNvSpPr>
          <p:nvPr/>
        </p:nvSpPr>
        <p:spPr>
          <a:xfrm>
            <a:off x="400050" y="533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550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Заключение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0FA046-8863-4AD0-883F-8A10A91630DB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1239500" cy="13335"/>
          </a:xfrm>
          <a:prstGeom prst="rect">
            <a:avLst/>
          </a:prstGeom>
          <a:solidFill>
            <a:srgbClr val="CAD6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0EEAE-633F-4B06-8BDC-3797286C4DA4}"/>
              </a:ext>
            </a:extLst>
          </p:cNvPr>
          <p:cNvSpPr>
            <a:spLocks noGrp="1"/>
          </p:cNvSpPr>
          <p:nvPr/>
        </p:nvSpPr>
        <p:spPr>
          <a:xfrm>
            <a:off x="11049000" y="304800"/>
            <a:ext cx="5238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350" b="1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lang="ru-RU" sz="1350" b="1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10 </a:t>
            </a:r>
            <a:endParaRPr sz="1350" b="1" dirty="0">
              <a:solidFill>
                <a:srgbClr val="53647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E61242-2178-48BF-8D78-EE2F9A7D8E3C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5048250" cy="2238375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2F475B-DB6F-4CC5-BBE1-11D9E76AC559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57150" cy="2238375"/>
          </a:xfrm>
          <a:prstGeom prst="rect">
            <a:avLst/>
          </a:prstGeom>
          <a:solidFill>
            <a:srgbClr val="2F6F8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54A670-B487-465D-A6DA-1167C00E6BA5}"/>
              </a:ext>
            </a:extLst>
          </p:cNvPr>
          <p:cNvSpPr>
            <a:spLocks noGrp="1"/>
          </p:cNvSpPr>
          <p:nvPr/>
        </p:nvSpPr>
        <p:spPr>
          <a:xfrm>
            <a:off x="781050" y="1647825"/>
            <a:ext cx="4667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Итоги работы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E87C5E-FD47-46D7-B132-C5B40B5DB189}"/>
              </a:ext>
            </a:extLst>
          </p:cNvPr>
          <p:cNvSpPr>
            <a:spLocks noGrp="1"/>
          </p:cNvSpPr>
          <p:nvPr/>
        </p:nvSpPr>
        <p:spPr>
          <a:xfrm>
            <a:off x="781050" y="2028825"/>
            <a:ext cx="4648200" cy="15525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477"/>
                </a:solidFill>
                <a:latin typeface="Aptos"/>
                <a:ea typeface="Aptos"/>
                <a:cs typeface="Aptos"/>
              </a:rPr>
              <a:t>Разработано клиент-серверное Android-приложение SpotBook. Реализованы авторизация, карточки мест, группы, локальное хранение в Room, Ktor REST API, SQLite, загрузка фотографий и ручная синхронизация.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C5D56B-E90E-48FB-B48C-C5A4E39B25A2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504825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42BA82-0BB0-4147-A401-16FB9490577D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57150" cy="1333500"/>
          </a:xfrm>
          <a:prstGeom prst="rect">
            <a:avLst/>
          </a:prstGeom>
          <a:solidFill>
            <a:srgbClr val="9A6A2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B9331B7-3FCF-4D4C-917B-7B929DAD1DFC}"/>
              </a:ext>
            </a:extLst>
          </p:cNvPr>
          <p:cNvSpPr>
            <a:spLocks noGrp="1"/>
          </p:cNvSpPr>
          <p:nvPr/>
        </p:nvSpPr>
        <p:spPr>
          <a:xfrm>
            <a:off x="781050" y="4267200"/>
            <a:ext cx="4667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425" b="1">
                <a:solidFill>
                  <a:srgbClr val="17233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331"/>
                </a:solidFill>
                <a:latin typeface="Aptos"/>
                <a:ea typeface="Aptos"/>
                <a:cs typeface="Aptos"/>
              </a:rPr>
              <a:t>Планы развития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2A9649-25F9-4FD7-8514-B69DDD8C2D2C}"/>
              </a:ext>
            </a:extLst>
          </p:cNvPr>
          <p:cNvSpPr>
            <a:spLocks noGrp="1"/>
          </p:cNvSpPr>
          <p:nvPr/>
        </p:nvSpPr>
        <p:spPr>
          <a:xfrm>
            <a:off x="781050" y="4648200"/>
            <a:ext cx="46482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• </a:t>
            </a:r>
            <a:r>
              <a:rPr sz="1125" b="0" dirty="0" err="1">
                <a:solidFill>
                  <a:srgbClr val="536477"/>
                </a:solidFill>
                <a:latin typeface="Aptos"/>
                <a:ea typeface="Aptos"/>
                <a:cs typeface="Aptos"/>
              </a:rPr>
              <a:t>добавление</a:t>
            </a: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536477"/>
                </a:solidFill>
                <a:latin typeface="Aptos"/>
                <a:ea typeface="Aptos"/>
                <a:cs typeface="Aptos"/>
              </a:rPr>
              <a:t>нескольких</a:t>
            </a: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536477"/>
                </a:solidFill>
                <a:latin typeface="Aptos"/>
                <a:ea typeface="Aptos"/>
                <a:cs typeface="Aptos"/>
              </a:rPr>
              <a:t>фото</a:t>
            </a:r>
            <a:endParaRPr sz="1125" b="0" dirty="0">
              <a:solidFill>
                <a:srgbClr val="536477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• </a:t>
            </a:r>
            <a:r>
              <a:rPr lang="ru-RU" sz="1125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автоматическая синхронизация</a:t>
            </a:r>
            <a:endParaRPr sz="1125" b="0" dirty="0">
              <a:solidFill>
                <a:srgbClr val="536477"/>
              </a:solidFill>
              <a:latin typeface="Aptos"/>
              <a:ea typeface="Aptos"/>
              <a:cs typeface="Aptos"/>
            </a:endParaRPr>
          </a:p>
          <a:p>
            <a:pPr>
              <a:defRPr sz="1125" b="0">
                <a:solidFill>
                  <a:srgbClr val="536477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• </a:t>
            </a:r>
            <a:r>
              <a:rPr sz="1125" b="0" dirty="0" err="1">
                <a:solidFill>
                  <a:srgbClr val="536477"/>
                </a:solidFill>
                <a:latin typeface="Aptos"/>
                <a:ea typeface="Aptos"/>
                <a:cs typeface="Aptos"/>
              </a:rPr>
              <a:t>обмен</a:t>
            </a: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536477"/>
                </a:solidFill>
                <a:latin typeface="Aptos"/>
                <a:ea typeface="Aptos"/>
                <a:cs typeface="Aptos"/>
              </a:rPr>
              <a:t>карточками</a:t>
            </a: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 и </a:t>
            </a:r>
            <a:r>
              <a:rPr sz="1125" b="0" dirty="0" err="1">
                <a:solidFill>
                  <a:srgbClr val="536477"/>
                </a:solidFill>
                <a:latin typeface="Aptos"/>
                <a:ea typeface="Aptos"/>
                <a:cs typeface="Aptos"/>
              </a:rPr>
              <a:t>группами</a:t>
            </a: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536477"/>
                </a:solidFill>
                <a:latin typeface="Aptos"/>
                <a:ea typeface="Aptos"/>
                <a:cs typeface="Aptos"/>
              </a:rPr>
              <a:t>карточек</a:t>
            </a: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 с </a:t>
            </a:r>
            <a:r>
              <a:rPr sz="1125" b="0" dirty="0" err="1">
                <a:solidFill>
                  <a:srgbClr val="536477"/>
                </a:solidFill>
                <a:latin typeface="Aptos"/>
                <a:ea typeface="Aptos"/>
                <a:cs typeface="Aptos"/>
              </a:rPr>
              <a:t>другими</a:t>
            </a:r>
            <a:r>
              <a:rPr sz="1125" b="0" dirty="0">
                <a:solidFill>
                  <a:srgbClr val="536477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536477"/>
                </a:solidFill>
                <a:latin typeface="Aptos"/>
                <a:ea typeface="Aptos"/>
                <a:cs typeface="Aptos"/>
              </a:rPr>
              <a:t>пользователями</a:t>
            </a:r>
            <a:endParaRPr sz="1125" b="0" dirty="0">
              <a:solidFill>
                <a:srgbClr val="53647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870AEB8-D134-4833-BBF7-FD4D818444AF}"/>
              </a:ext>
            </a:extLst>
          </p:cNvPr>
          <p:cNvSpPr>
            <a:spLocks noGrp="1"/>
          </p:cNvSpPr>
          <p:nvPr/>
        </p:nvSpPr>
        <p:spPr>
          <a:xfrm>
            <a:off x="6191250" y="4095750"/>
            <a:ext cx="2381250" cy="1333500"/>
          </a:xfrm>
          <a:prstGeom prst="rect">
            <a:avLst/>
          </a:prstGeom>
          <a:solidFill>
            <a:srgbClr val="F1F5F7"/>
          </a:solidFill>
          <a:ln w="13335">
            <a:solidFill>
              <a:srgbClr val="8AA0AC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1FE9272-0566-4307-BCE4-294CD2A8157E}"/>
              </a:ext>
            </a:extLst>
          </p:cNvPr>
          <p:cNvSpPr>
            <a:spLocks noGrp="1"/>
          </p:cNvSpPr>
          <p:nvPr/>
        </p:nvSpPr>
        <p:spPr>
          <a:xfrm>
            <a:off x="6334125" y="51244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350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Backend-репозиторий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9E02C6-32B3-4A35-BD92-8DB8996185D3}"/>
              </a:ext>
            </a:extLst>
          </p:cNvPr>
          <p:cNvSpPr>
            <a:spLocks noGrp="1"/>
          </p:cNvSpPr>
          <p:nvPr/>
        </p:nvSpPr>
        <p:spPr>
          <a:xfrm>
            <a:off x="8858250" y="4095750"/>
            <a:ext cx="2381250" cy="1333500"/>
          </a:xfrm>
          <a:prstGeom prst="rect">
            <a:avLst/>
          </a:prstGeom>
          <a:solidFill>
            <a:srgbClr val="F1F5F7"/>
          </a:solidFill>
          <a:ln w="13335">
            <a:solidFill>
              <a:srgbClr val="8AA0AC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8DCAED-D7EE-49BE-86D0-25B0C8041B0C}"/>
              </a:ext>
            </a:extLst>
          </p:cNvPr>
          <p:cNvSpPr>
            <a:spLocks noGrp="1"/>
          </p:cNvSpPr>
          <p:nvPr/>
        </p:nvSpPr>
        <p:spPr>
          <a:xfrm>
            <a:off x="9001125" y="51244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350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Android-клиент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5C469A-3DF5-454F-BE9C-FF4EB519EC89}"/>
              </a:ext>
            </a:extLst>
          </p:cNvPr>
          <p:cNvSpPr>
            <a:spLocks noGrp="1"/>
          </p:cNvSpPr>
          <p:nvPr/>
        </p:nvSpPr>
        <p:spPr>
          <a:xfrm>
            <a:off x="6191250" y="1476375"/>
            <a:ext cx="5048250" cy="2238375"/>
          </a:xfrm>
          <a:prstGeom prst="rect">
            <a:avLst/>
          </a:prstGeom>
          <a:solidFill>
            <a:srgbClr val="F1F5F7"/>
          </a:solidFill>
          <a:ln w="13335">
            <a:solidFill>
              <a:srgbClr val="8AA0AC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BA24266-03D9-44A9-98FF-B8748F444683}"/>
              </a:ext>
            </a:extLst>
          </p:cNvPr>
          <p:cNvSpPr>
            <a:spLocks noGrp="1"/>
          </p:cNvSpPr>
          <p:nvPr/>
        </p:nvSpPr>
        <p:spPr>
          <a:xfrm>
            <a:off x="8620125" y="2143125"/>
            <a:ext cx="2190750" cy="904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650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Видео с демонстрацией</a:t>
            </a:r>
          </a:p>
          <a:p>
            <a:pPr algn="ctr">
              <a:buNone/>
              <a:defRPr sz="1650" b="1">
                <a:solidFill>
                  <a:srgbClr val="204A5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4A5B"/>
                </a:solidFill>
                <a:latin typeface="Aptos"/>
                <a:ea typeface="Aptos"/>
                <a:cs typeface="Aptos"/>
              </a:rPr>
              <a:t>работы приложения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00800" y="1600200"/>
            <a:ext cx="2000250" cy="2000250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905625" y="4210050"/>
            <a:ext cx="876300" cy="876300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4210050"/>
            <a:ext cx="8763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075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802</Words>
  <Application>Microsoft Office PowerPoint</Application>
  <DocSecurity>0</DocSecurity>
  <PresentationFormat>Widescreen</PresentationFormat>
  <Paragraphs>135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Илья Бондаренко</cp:lastModifiedBy>
  <cp:revision>3</cp:revision>
  <dcterms:created xsi:type="dcterms:W3CDTF">2026-06-07T17:33:26Z</dcterms:created>
  <dcterms:modified xsi:type="dcterms:W3CDTF">2026-06-10T10:19:08Z</dcterms:modified>
</cp:coreProperties>
</file>